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83" r:id="rId4"/>
  </p:sldMasterIdLst>
  <p:notesMasterIdLst>
    <p:notesMasterId r:id="rId20"/>
  </p:notesMasterIdLst>
  <p:handoutMasterIdLst>
    <p:handoutMasterId r:id="rId21"/>
  </p:handoutMasterIdLst>
  <p:sldIdLst>
    <p:sldId id="325" r:id="rId5"/>
    <p:sldId id="307" r:id="rId6"/>
    <p:sldId id="338" r:id="rId7"/>
    <p:sldId id="312" r:id="rId8"/>
    <p:sldId id="340" r:id="rId9"/>
    <p:sldId id="317" r:id="rId10"/>
    <p:sldId id="341" r:id="rId11"/>
    <p:sldId id="336" r:id="rId12"/>
    <p:sldId id="334" r:id="rId13"/>
    <p:sldId id="342" r:id="rId14"/>
    <p:sldId id="343" r:id="rId15"/>
    <p:sldId id="344" r:id="rId16"/>
    <p:sldId id="321" r:id="rId17"/>
    <p:sldId id="339" r:id="rId18"/>
    <p:sldId id="34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DF18E0-516C-44BE-9D68-0D04BA5F9824}" v="115" dt="2026-03-20T12:23:22.920"/>
    <p1510:client id="{7915DA26-A61B-49F8-BC2C-DC89C7666528}" v="32" dt="2026-03-20T15:07:46.571"/>
    <p1510:client id="{81BD8225-27DD-45CC-90F1-BA444D6E5B05}" v="3" dt="2026-03-20T12:26:07.754"/>
    <p1510:client id="{9039D7FE-1E2B-4C54-8F1F-82D440D1C8EB}" v="124" dt="2026-03-20T14:57:36.001"/>
    <p1510:client id="{F9035BFF-B57E-4774-81E7-AC9881DE6EA2}" v="41" dt="2026-03-20T12:25:50.261"/>
  </p1510:revLst>
</p1510:revInfo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825" autoAdjust="0"/>
    <p:restoredTop sz="95394" autoAdjust="0"/>
  </p:normalViewPr>
  <p:slideViewPr>
    <p:cSldViewPr snapToGrid="0">
      <p:cViewPr varScale="1">
        <p:scale>
          <a:sx n="153" d="100"/>
          <a:sy n="153" d="100"/>
        </p:scale>
        <p:origin x="92" y="124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2069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9C58BD-8047-47E2-8268-B5985918CDA2}" type="doc">
      <dgm:prSet loTypeId="urn:microsoft.com/office/officeart/2005/8/layout/cycle5" loCatId="cycle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CBEF2EE-E053-4010-BE3A-17DB43B417A3}">
      <dgm:prSet/>
      <dgm:spPr/>
      <dgm:t>
        <a:bodyPr/>
        <a:lstStyle/>
        <a:p>
          <a:r>
            <a:rPr lang="en-US"/>
            <a:t>Phishing</a:t>
          </a:r>
        </a:p>
      </dgm:t>
    </dgm:pt>
    <dgm:pt modelId="{A244F9AC-ED24-4A4E-A124-990B5ADD306F}" type="parTrans" cxnId="{7B3A0499-F92C-45BB-87DD-686374A22992}">
      <dgm:prSet/>
      <dgm:spPr/>
      <dgm:t>
        <a:bodyPr/>
        <a:lstStyle/>
        <a:p>
          <a:endParaRPr lang="en-US"/>
        </a:p>
      </dgm:t>
    </dgm:pt>
    <dgm:pt modelId="{29BB5412-AC58-4444-8C68-B980B02443BD}" type="sibTrans" cxnId="{7B3A0499-F92C-45BB-87DD-686374A22992}">
      <dgm:prSet/>
      <dgm:spPr/>
      <dgm:t>
        <a:bodyPr/>
        <a:lstStyle/>
        <a:p>
          <a:endParaRPr lang="en-US"/>
        </a:p>
      </dgm:t>
    </dgm:pt>
    <dgm:pt modelId="{0B3DF5F3-A116-40DF-92F0-F463694C3983}">
      <dgm:prSet/>
      <dgm:spPr/>
      <dgm:t>
        <a:bodyPr/>
        <a:lstStyle/>
        <a:p>
          <a:r>
            <a:rPr lang="en-US" dirty="0"/>
            <a:t>Ransomware</a:t>
          </a:r>
        </a:p>
      </dgm:t>
    </dgm:pt>
    <dgm:pt modelId="{C59BF3FF-5825-4C9E-BB21-3E6998152307}" type="parTrans" cxnId="{546063EF-024C-4CD4-920E-D64C46BF8F33}">
      <dgm:prSet/>
      <dgm:spPr/>
      <dgm:t>
        <a:bodyPr/>
        <a:lstStyle/>
        <a:p>
          <a:endParaRPr lang="en-US"/>
        </a:p>
      </dgm:t>
    </dgm:pt>
    <dgm:pt modelId="{11C7ACCF-6423-4858-A901-9FCAF61EA3A9}" type="sibTrans" cxnId="{546063EF-024C-4CD4-920E-D64C46BF8F33}">
      <dgm:prSet/>
      <dgm:spPr/>
      <dgm:t>
        <a:bodyPr/>
        <a:lstStyle/>
        <a:p>
          <a:endParaRPr lang="en-US"/>
        </a:p>
      </dgm:t>
    </dgm:pt>
    <dgm:pt modelId="{E51E9F32-B49F-407A-B9B5-CD53E37DA40E}">
      <dgm:prSet/>
      <dgm:spPr/>
      <dgm:t>
        <a:bodyPr/>
        <a:lstStyle/>
        <a:p>
          <a:r>
            <a:rPr lang="en-US"/>
            <a:t>Insider threats</a:t>
          </a:r>
        </a:p>
      </dgm:t>
    </dgm:pt>
    <dgm:pt modelId="{327F755A-232A-4623-9B0F-6E36530F19E1}" type="parTrans" cxnId="{B3084310-6FD3-4E42-9E54-C3D9528436A1}">
      <dgm:prSet/>
      <dgm:spPr/>
      <dgm:t>
        <a:bodyPr/>
        <a:lstStyle/>
        <a:p>
          <a:endParaRPr lang="en-US"/>
        </a:p>
      </dgm:t>
    </dgm:pt>
    <dgm:pt modelId="{4F7FBE31-E231-4F6D-BA87-3FF498D48723}" type="sibTrans" cxnId="{B3084310-6FD3-4E42-9E54-C3D9528436A1}">
      <dgm:prSet/>
      <dgm:spPr/>
      <dgm:t>
        <a:bodyPr/>
        <a:lstStyle/>
        <a:p>
          <a:endParaRPr lang="en-US"/>
        </a:p>
      </dgm:t>
    </dgm:pt>
    <dgm:pt modelId="{24CAD261-BF88-480F-B5B4-C6DFBD9E171E}">
      <dgm:prSet/>
      <dgm:spPr/>
      <dgm:t>
        <a:bodyPr/>
        <a:lstStyle/>
        <a:p>
          <a:r>
            <a:rPr lang="en-US"/>
            <a:t>Iot devices</a:t>
          </a:r>
        </a:p>
      </dgm:t>
    </dgm:pt>
    <dgm:pt modelId="{B3ACFC90-0AE7-422A-8981-8DC6A72BB356}" type="parTrans" cxnId="{53EE2454-8AB8-4195-B806-AA07786AA1BC}">
      <dgm:prSet/>
      <dgm:spPr/>
      <dgm:t>
        <a:bodyPr/>
        <a:lstStyle/>
        <a:p>
          <a:endParaRPr lang="en-US"/>
        </a:p>
      </dgm:t>
    </dgm:pt>
    <dgm:pt modelId="{B0190F10-2A2D-4DDB-8F2F-AD9E1B0FC609}" type="sibTrans" cxnId="{53EE2454-8AB8-4195-B806-AA07786AA1BC}">
      <dgm:prSet/>
      <dgm:spPr/>
      <dgm:t>
        <a:bodyPr/>
        <a:lstStyle/>
        <a:p>
          <a:endParaRPr lang="en-US"/>
        </a:p>
      </dgm:t>
    </dgm:pt>
    <dgm:pt modelId="{321724EC-3FC4-4792-A3AE-16D7253F44BD}">
      <dgm:prSet/>
      <dgm:spPr/>
      <dgm:t>
        <a:bodyPr/>
        <a:lstStyle/>
        <a:p>
          <a:r>
            <a:rPr lang="en-US"/>
            <a:t>Older it systems </a:t>
          </a:r>
        </a:p>
      </dgm:t>
    </dgm:pt>
    <dgm:pt modelId="{1974EC84-B8E8-4C53-8CCD-FE120F0E7475}" type="parTrans" cxnId="{A31AF675-D448-4F50-8261-E0ADD4FB4961}">
      <dgm:prSet/>
      <dgm:spPr/>
      <dgm:t>
        <a:bodyPr/>
        <a:lstStyle/>
        <a:p>
          <a:endParaRPr lang="en-US"/>
        </a:p>
      </dgm:t>
    </dgm:pt>
    <dgm:pt modelId="{32FDBD29-D627-416F-AA57-5B497A8544C4}" type="sibTrans" cxnId="{A31AF675-D448-4F50-8261-E0ADD4FB4961}">
      <dgm:prSet/>
      <dgm:spPr/>
      <dgm:t>
        <a:bodyPr/>
        <a:lstStyle/>
        <a:p>
          <a:endParaRPr lang="en-US"/>
        </a:p>
      </dgm:t>
    </dgm:pt>
    <dgm:pt modelId="{9A64E3E1-F3AB-404D-8C53-0D0452B5B592}" type="pres">
      <dgm:prSet presAssocID="{159C58BD-8047-47E2-8268-B5985918CDA2}" presName="cycle" presStyleCnt="0">
        <dgm:presLayoutVars>
          <dgm:dir/>
          <dgm:resizeHandles val="exact"/>
        </dgm:presLayoutVars>
      </dgm:prSet>
      <dgm:spPr/>
    </dgm:pt>
    <dgm:pt modelId="{A86AD325-63F0-4EDA-A670-C7DEBC5628D1}" type="pres">
      <dgm:prSet presAssocID="{4CBEF2EE-E053-4010-BE3A-17DB43B417A3}" presName="node" presStyleLbl="node1" presStyleIdx="0" presStyleCnt="5">
        <dgm:presLayoutVars>
          <dgm:bulletEnabled val="1"/>
        </dgm:presLayoutVars>
      </dgm:prSet>
      <dgm:spPr/>
    </dgm:pt>
    <dgm:pt modelId="{D6E0B376-AFAC-4EDD-B9B6-62D54A105C1D}" type="pres">
      <dgm:prSet presAssocID="{4CBEF2EE-E053-4010-BE3A-17DB43B417A3}" presName="spNode" presStyleCnt="0"/>
      <dgm:spPr/>
    </dgm:pt>
    <dgm:pt modelId="{AE695544-E944-4544-9434-DA367FF76F56}" type="pres">
      <dgm:prSet presAssocID="{29BB5412-AC58-4444-8C68-B980B02443BD}" presName="sibTrans" presStyleLbl="sibTrans1D1" presStyleIdx="0" presStyleCnt="5"/>
      <dgm:spPr/>
    </dgm:pt>
    <dgm:pt modelId="{2DB127B5-10FD-4349-9612-5377C6383E82}" type="pres">
      <dgm:prSet presAssocID="{0B3DF5F3-A116-40DF-92F0-F463694C3983}" presName="node" presStyleLbl="node1" presStyleIdx="1" presStyleCnt="5">
        <dgm:presLayoutVars>
          <dgm:bulletEnabled val="1"/>
        </dgm:presLayoutVars>
      </dgm:prSet>
      <dgm:spPr/>
    </dgm:pt>
    <dgm:pt modelId="{0859F04B-E55F-423F-A6D8-6826052115A3}" type="pres">
      <dgm:prSet presAssocID="{0B3DF5F3-A116-40DF-92F0-F463694C3983}" presName="spNode" presStyleCnt="0"/>
      <dgm:spPr/>
    </dgm:pt>
    <dgm:pt modelId="{8075469B-F475-4378-AEFE-2FF84C614DDD}" type="pres">
      <dgm:prSet presAssocID="{11C7ACCF-6423-4858-A901-9FCAF61EA3A9}" presName="sibTrans" presStyleLbl="sibTrans1D1" presStyleIdx="1" presStyleCnt="5"/>
      <dgm:spPr/>
    </dgm:pt>
    <dgm:pt modelId="{FF680125-6463-4FDC-8381-83E2303A3488}" type="pres">
      <dgm:prSet presAssocID="{E51E9F32-B49F-407A-B9B5-CD53E37DA40E}" presName="node" presStyleLbl="node1" presStyleIdx="2" presStyleCnt="5">
        <dgm:presLayoutVars>
          <dgm:bulletEnabled val="1"/>
        </dgm:presLayoutVars>
      </dgm:prSet>
      <dgm:spPr/>
    </dgm:pt>
    <dgm:pt modelId="{4B330CC7-FCD7-4F65-87D2-1089E7A457A0}" type="pres">
      <dgm:prSet presAssocID="{E51E9F32-B49F-407A-B9B5-CD53E37DA40E}" presName="spNode" presStyleCnt="0"/>
      <dgm:spPr/>
    </dgm:pt>
    <dgm:pt modelId="{CDD73496-7ACE-4430-ACC2-5B5480959107}" type="pres">
      <dgm:prSet presAssocID="{4F7FBE31-E231-4F6D-BA87-3FF498D48723}" presName="sibTrans" presStyleLbl="sibTrans1D1" presStyleIdx="2" presStyleCnt="5"/>
      <dgm:spPr/>
    </dgm:pt>
    <dgm:pt modelId="{69F0EBF4-4E1E-4C68-9763-074571D804C0}" type="pres">
      <dgm:prSet presAssocID="{24CAD261-BF88-480F-B5B4-C6DFBD9E171E}" presName="node" presStyleLbl="node1" presStyleIdx="3" presStyleCnt="5">
        <dgm:presLayoutVars>
          <dgm:bulletEnabled val="1"/>
        </dgm:presLayoutVars>
      </dgm:prSet>
      <dgm:spPr/>
    </dgm:pt>
    <dgm:pt modelId="{0E256810-6DEE-4EFB-99B7-5A2087806979}" type="pres">
      <dgm:prSet presAssocID="{24CAD261-BF88-480F-B5B4-C6DFBD9E171E}" presName="spNode" presStyleCnt="0"/>
      <dgm:spPr/>
    </dgm:pt>
    <dgm:pt modelId="{A5CCC3B4-932A-4A5A-B8E1-AA93129A6FD5}" type="pres">
      <dgm:prSet presAssocID="{B0190F10-2A2D-4DDB-8F2F-AD9E1B0FC609}" presName="sibTrans" presStyleLbl="sibTrans1D1" presStyleIdx="3" presStyleCnt="5"/>
      <dgm:spPr/>
    </dgm:pt>
    <dgm:pt modelId="{274F42AF-5229-4BE2-A913-0248EDB21B84}" type="pres">
      <dgm:prSet presAssocID="{321724EC-3FC4-4792-A3AE-16D7253F44BD}" presName="node" presStyleLbl="node1" presStyleIdx="4" presStyleCnt="5">
        <dgm:presLayoutVars>
          <dgm:bulletEnabled val="1"/>
        </dgm:presLayoutVars>
      </dgm:prSet>
      <dgm:spPr/>
    </dgm:pt>
    <dgm:pt modelId="{60288504-8568-43A5-98A0-F45369BD217E}" type="pres">
      <dgm:prSet presAssocID="{321724EC-3FC4-4792-A3AE-16D7253F44BD}" presName="spNode" presStyleCnt="0"/>
      <dgm:spPr/>
    </dgm:pt>
    <dgm:pt modelId="{615EC00E-65EA-4868-A1FF-73B143DDFDA5}" type="pres">
      <dgm:prSet presAssocID="{32FDBD29-D627-416F-AA57-5B497A8544C4}" presName="sibTrans" presStyleLbl="sibTrans1D1" presStyleIdx="4" presStyleCnt="5"/>
      <dgm:spPr/>
    </dgm:pt>
  </dgm:ptLst>
  <dgm:cxnLst>
    <dgm:cxn modelId="{B3084310-6FD3-4E42-9E54-C3D9528436A1}" srcId="{159C58BD-8047-47E2-8268-B5985918CDA2}" destId="{E51E9F32-B49F-407A-B9B5-CD53E37DA40E}" srcOrd="2" destOrd="0" parTransId="{327F755A-232A-4623-9B0F-6E36530F19E1}" sibTransId="{4F7FBE31-E231-4F6D-BA87-3FF498D48723}"/>
    <dgm:cxn modelId="{69CEA91C-76DF-4696-8BEC-92F0F7CE846E}" type="presOf" srcId="{24CAD261-BF88-480F-B5B4-C6DFBD9E171E}" destId="{69F0EBF4-4E1E-4C68-9763-074571D804C0}" srcOrd="0" destOrd="0" presId="urn:microsoft.com/office/officeart/2005/8/layout/cycle5"/>
    <dgm:cxn modelId="{90DA5D63-D42D-4138-BC43-F8F28DF12369}" type="presOf" srcId="{11C7ACCF-6423-4858-A901-9FCAF61EA3A9}" destId="{8075469B-F475-4378-AEFE-2FF84C614DDD}" srcOrd="0" destOrd="0" presId="urn:microsoft.com/office/officeart/2005/8/layout/cycle5"/>
    <dgm:cxn modelId="{26A94B67-9755-40A8-B9B0-7C664432118E}" type="presOf" srcId="{4CBEF2EE-E053-4010-BE3A-17DB43B417A3}" destId="{A86AD325-63F0-4EDA-A670-C7DEBC5628D1}" srcOrd="0" destOrd="0" presId="urn:microsoft.com/office/officeart/2005/8/layout/cycle5"/>
    <dgm:cxn modelId="{C90F3168-0C8F-4E84-A988-1C3586C477D6}" type="presOf" srcId="{E51E9F32-B49F-407A-B9B5-CD53E37DA40E}" destId="{FF680125-6463-4FDC-8381-83E2303A3488}" srcOrd="0" destOrd="0" presId="urn:microsoft.com/office/officeart/2005/8/layout/cycle5"/>
    <dgm:cxn modelId="{F6FBDA49-DA4E-49C0-A0F5-FF830E4E173A}" type="presOf" srcId="{B0190F10-2A2D-4DDB-8F2F-AD9E1B0FC609}" destId="{A5CCC3B4-932A-4A5A-B8E1-AA93129A6FD5}" srcOrd="0" destOrd="0" presId="urn:microsoft.com/office/officeart/2005/8/layout/cycle5"/>
    <dgm:cxn modelId="{53EE2454-8AB8-4195-B806-AA07786AA1BC}" srcId="{159C58BD-8047-47E2-8268-B5985918CDA2}" destId="{24CAD261-BF88-480F-B5B4-C6DFBD9E171E}" srcOrd="3" destOrd="0" parTransId="{B3ACFC90-0AE7-422A-8981-8DC6A72BB356}" sibTransId="{B0190F10-2A2D-4DDB-8F2F-AD9E1B0FC609}"/>
    <dgm:cxn modelId="{A31AF675-D448-4F50-8261-E0ADD4FB4961}" srcId="{159C58BD-8047-47E2-8268-B5985918CDA2}" destId="{321724EC-3FC4-4792-A3AE-16D7253F44BD}" srcOrd="4" destOrd="0" parTransId="{1974EC84-B8E8-4C53-8CCD-FE120F0E7475}" sibTransId="{32FDBD29-D627-416F-AA57-5B497A8544C4}"/>
    <dgm:cxn modelId="{85147A95-11BC-44C9-83B3-2B0B54A8E1FC}" type="presOf" srcId="{0B3DF5F3-A116-40DF-92F0-F463694C3983}" destId="{2DB127B5-10FD-4349-9612-5377C6383E82}" srcOrd="0" destOrd="0" presId="urn:microsoft.com/office/officeart/2005/8/layout/cycle5"/>
    <dgm:cxn modelId="{7B3A0499-F92C-45BB-87DD-686374A22992}" srcId="{159C58BD-8047-47E2-8268-B5985918CDA2}" destId="{4CBEF2EE-E053-4010-BE3A-17DB43B417A3}" srcOrd="0" destOrd="0" parTransId="{A244F9AC-ED24-4A4E-A124-990B5ADD306F}" sibTransId="{29BB5412-AC58-4444-8C68-B980B02443BD}"/>
    <dgm:cxn modelId="{33BE63A9-8F3C-4531-A70F-5410D6A9B979}" type="presOf" srcId="{4F7FBE31-E231-4F6D-BA87-3FF498D48723}" destId="{CDD73496-7ACE-4430-ACC2-5B5480959107}" srcOrd="0" destOrd="0" presId="urn:microsoft.com/office/officeart/2005/8/layout/cycle5"/>
    <dgm:cxn modelId="{0ADE2FAA-CF87-4531-9ED3-8261C907399B}" type="presOf" srcId="{159C58BD-8047-47E2-8268-B5985918CDA2}" destId="{9A64E3E1-F3AB-404D-8C53-0D0452B5B592}" srcOrd="0" destOrd="0" presId="urn:microsoft.com/office/officeart/2005/8/layout/cycle5"/>
    <dgm:cxn modelId="{674498BC-27AE-4B45-BEDA-0E876C916C96}" type="presOf" srcId="{29BB5412-AC58-4444-8C68-B980B02443BD}" destId="{AE695544-E944-4544-9434-DA367FF76F56}" srcOrd="0" destOrd="0" presId="urn:microsoft.com/office/officeart/2005/8/layout/cycle5"/>
    <dgm:cxn modelId="{0A0F44BE-1EF2-48CA-81DC-7FA2E9C7FAEB}" type="presOf" srcId="{321724EC-3FC4-4792-A3AE-16D7253F44BD}" destId="{274F42AF-5229-4BE2-A913-0248EDB21B84}" srcOrd="0" destOrd="0" presId="urn:microsoft.com/office/officeart/2005/8/layout/cycle5"/>
    <dgm:cxn modelId="{7F8AF6DE-285C-44E5-837A-796E9FB415E8}" type="presOf" srcId="{32FDBD29-D627-416F-AA57-5B497A8544C4}" destId="{615EC00E-65EA-4868-A1FF-73B143DDFDA5}" srcOrd="0" destOrd="0" presId="urn:microsoft.com/office/officeart/2005/8/layout/cycle5"/>
    <dgm:cxn modelId="{546063EF-024C-4CD4-920E-D64C46BF8F33}" srcId="{159C58BD-8047-47E2-8268-B5985918CDA2}" destId="{0B3DF5F3-A116-40DF-92F0-F463694C3983}" srcOrd="1" destOrd="0" parTransId="{C59BF3FF-5825-4C9E-BB21-3E6998152307}" sibTransId="{11C7ACCF-6423-4858-A901-9FCAF61EA3A9}"/>
    <dgm:cxn modelId="{9F618168-D2BF-4B8A-BC52-9A6E08954E2F}" type="presParOf" srcId="{9A64E3E1-F3AB-404D-8C53-0D0452B5B592}" destId="{A86AD325-63F0-4EDA-A670-C7DEBC5628D1}" srcOrd="0" destOrd="0" presId="urn:microsoft.com/office/officeart/2005/8/layout/cycle5"/>
    <dgm:cxn modelId="{3678CEF2-3DD3-4C16-A935-6335ADF87F72}" type="presParOf" srcId="{9A64E3E1-F3AB-404D-8C53-0D0452B5B592}" destId="{D6E0B376-AFAC-4EDD-B9B6-62D54A105C1D}" srcOrd="1" destOrd="0" presId="urn:microsoft.com/office/officeart/2005/8/layout/cycle5"/>
    <dgm:cxn modelId="{F55908A8-AB44-4835-A664-A88388E6B600}" type="presParOf" srcId="{9A64E3E1-F3AB-404D-8C53-0D0452B5B592}" destId="{AE695544-E944-4544-9434-DA367FF76F56}" srcOrd="2" destOrd="0" presId="urn:microsoft.com/office/officeart/2005/8/layout/cycle5"/>
    <dgm:cxn modelId="{6EE6C8C7-A7E8-459B-A920-9A7294617667}" type="presParOf" srcId="{9A64E3E1-F3AB-404D-8C53-0D0452B5B592}" destId="{2DB127B5-10FD-4349-9612-5377C6383E82}" srcOrd="3" destOrd="0" presId="urn:microsoft.com/office/officeart/2005/8/layout/cycle5"/>
    <dgm:cxn modelId="{3E8CE099-569D-47EB-8E23-C34093CC4822}" type="presParOf" srcId="{9A64E3E1-F3AB-404D-8C53-0D0452B5B592}" destId="{0859F04B-E55F-423F-A6D8-6826052115A3}" srcOrd="4" destOrd="0" presId="urn:microsoft.com/office/officeart/2005/8/layout/cycle5"/>
    <dgm:cxn modelId="{22D5C0ED-E751-44E8-BB3C-EF95743E0124}" type="presParOf" srcId="{9A64E3E1-F3AB-404D-8C53-0D0452B5B592}" destId="{8075469B-F475-4378-AEFE-2FF84C614DDD}" srcOrd="5" destOrd="0" presId="urn:microsoft.com/office/officeart/2005/8/layout/cycle5"/>
    <dgm:cxn modelId="{A15808B4-7E70-4BB5-9C0B-933979D1C15B}" type="presParOf" srcId="{9A64E3E1-F3AB-404D-8C53-0D0452B5B592}" destId="{FF680125-6463-4FDC-8381-83E2303A3488}" srcOrd="6" destOrd="0" presId="urn:microsoft.com/office/officeart/2005/8/layout/cycle5"/>
    <dgm:cxn modelId="{F40499B1-0D29-402A-A9D4-ACFB1FC0F648}" type="presParOf" srcId="{9A64E3E1-F3AB-404D-8C53-0D0452B5B592}" destId="{4B330CC7-FCD7-4F65-87D2-1089E7A457A0}" srcOrd="7" destOrd="0" presId="urn:microsoft.com/office/officeart/2005/8/layout/cycle5"/>
    <dgm:cxn modelId="{70C70157-E11D-45FA-8F52-B13A77B435B5}" type="presParOf" srcId="{9A64E3E1-F3AB-404D-8C53-0D0452B5B592}" destId="{CDD73496-7ACE-4430-ACC2-5B5480959107}" srcOrd="8" destOrd="0" presId="urn:microsoft.com/office/officeart/2005/8/layout/cycle5"/>
    <dgm:cxn modelId="{C40808E1-D193-4C70-9C6C-D2661D5B13CE}" type="presParOf" srcId="{9A64E3E1-F3AB-404D-8C53-0D0452B5B592}" destId="{69F0EBF4-4E1E-4C68-9763-074571D804C0}" srcOrd="9" destOrd="0" presId="urn:microsoft.com/office/officeart/2005/8/layout/cycle5"/>
    <dgm:cxn modelId="{D01162EF-7827-4C31-8699-E278C5843C5E}" type="presParOf" srcId="{9A64E3E1-F3AB-404D-8C53-0D0452B5B592}" destId="{0E256810-6DEE-4EFB-99B7-5A2087806979}" srcOrd="10" destOrd="0" presId="urn:microsoft.com/office/officeart/2005/8/layout/cycle5"/>
    <dgm:cxn modelId="{5F98481F-1B28-457B-B01D-8809C1AC1A4C}" type="presParOf" srcId="{9A64E3E1-F3AB-404D-8C53-0D0452B5B592}" destId="{A5CCC3B4-932A-4A5A-B8E1-AA93129A6FD5}" srcOrd="11" destOrd="0" presId="urn:microsoft.com/office/officeart/2005/8/layout/cycle5"/>
    <dgm:cxn modelId="{B242EDFD-C6AE-42BA-8241-F096D1100856}" type="presParOf" srcId="{9A64E3E1-F3AB-404D-8C53-0D0452B5B592}" destId="{274F42AF-5229-4BE2-A913-0248EDB21B84}" srcOrd="12" destOrd="0" presId="urn:microsoft.com/office/officeart/2005/8/layout/cycle5"/>
    <dgm:cxn modelId="{B40C53D9-C6C7-48C3-BFF7-3F9D7FF42D62}" type="presParOf" srcId="{9A64E3E1-F3AB-404D-8C53-0D0452B5B592}" destId="{60288504-8568-43A5-98A0-F45369BD217E}" srcOrd="13" destOrd="0" presId="urn:microsoft.com/office/officeart/2005/8/layout/cycle5"/>
    <dgm:cxn modelId="{9832CB59-3780-48B9-8B64-CAEF0014D367}" type="presParOf" srcId="{9A64E3E1-F3AB-404D-8C53-0D0452B5B592}" destId="{615EC00E-65EA-4868-A1FF-73B143DDFDA5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CDB7A6C-D671-45A0-AEB5-A53E32FA4C88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EBF7F80-AB57-4BB2-B7C1-C4E003265508}">
      <dgm:prSet/>
      <dgm:spPr/>
      <dgm:t>
        <a:bodyPr/>
        <a:lstStyle/>
        <a:p>
          <a:r>
            <a:rPr lang="en-US"/>
            <a:t>Loss of repuation</a:t>
          </a:r>
        </a:p>
      </dgm:t>
    </dgm:pt>
    <dgm:pt modelId="{BA9366FC-945E-4E17-B303-9E6FE822FEBB}" type="parTrans" cxnId="{0FEB9F41-6143-4ABA-BAEF-7C72E8149F2F}">
      <dgm:prSet/>
      <dgm:spPr/>
      <dgm:t>
        <a:bodyPr/>
        <a:lstStyle/>
        <a:p>
          <a:endParaRPr lang="en-US"/>
        </a:p>
      </dgm:t>
    </dgm:pt>
    <dgm:pt modelId="{8A227F2C-3EC5-4F65-BB90-990F27C872DF}" type="sibTrans" cxnId="{0FEB9F41-6143-4ABA-BAEF-7C72E8149F2F}">
      <dgm:prSet/>
      <dgm:spPr/>
      <dgm:t>
        <a:bodyPr/>
        <a:lstStyle/>
        <a:p>
          <a:endParaRPr lang="en-US"/>
        </a:p>
      </dgm:t>
    </dgm:pt>
    <dgm:pt modelId="{8E51DB01-08BD-4288-A77E-2C90AEBECC9D}">
      <dgm:prSet/>
      <dgm:spPr/>
      <dgm:t>
        <a:bodyPr/>
        <a:lstStyle/>
        <a:p>
          <a:r>
            <a:rPr lang="en-US" dirty="0"/>
            <a:t>Financial costs</a:t>
          </a:r>
        </a:p>
      </dgm:t>
    </dgm:pt>
    <dgm:pt modelId="{CF812AF2-BF34-4122-BA42-6B1BF7FCC650}" type="parTrans" cxnId="{5FE7A4C8-6C97-4D68-884A-9E0AF1DFFAE7}">
      <dgm:prSet/>
      <dgm:spPr/>
      <dgm:t>
        <a:bodyPr/>
        <a:lstStyle/>
        <a:p>
          <a:endParaRPr lang="en-US"/>
        </a:p>
      </dgm:t>
    </dgm:pt>
    <dgm:pt modelId="{C65C96E2-40EE-4D47-AECF-DAD0B65BC68D}" type="sibTrans" cxnId="{5FE7A4C8-6C97-4D68-884A-9E0AF1DFFAE7}">
      <dgm:prSet/>
      <dgm:spPr/>
      <dgm:t>
        <a:bodyPr/>
        <a:lstStyle/>
        <a:p>
          <a:endParaRPr lang="en-US"/>
        </a:p>
      </dgm:t>
    </dgm:pt>
    <dgm:pt modelId="{AC29A63F-E43B-4C25-9678-F591DE76A4B1}">
      <dgm:prSet/>
      <dgm:spPr/>
      <dgm:t>
        <a:bodyPr/>
        <a:lstStyle/>
        <a:p>
          <a:r>
            <a:rPr lang="en-US"/>
            <a:t>Legal repercusions </a:t>
          </a:r>
        </a:p>
      </dgm:t>
    </dgm:pt>
    <dgm:pt modelId="{19B2C9A2-11DE-4FEB-B14B-CC570DE18369}" type="parTrans" cxnId="{5B4B4174-5166-4BCD-88AD-D7CA804D9DC5}">
      <dgm:prSet/>
      <dgm:spPr/>
      <dgm:t>
        <a:bodyPr/>
        <a:lstStyle/>
        <a:p>
          <a:endParaRPr lang="en-US"/>
        </a:p>
      </dgm:t>
    </dgm:pt>
    <dgm:pt modelId="{F2FA5FDC-5458-4E0D-B430-011D90EBCB03}" type="sibTrans" cxnId="{5B4B4174-5166-4BCD-88AD-D7CA804D9DC5}">
      <dgm:prSet/>
      <dgm:spPr/>
      <dgm:t>
        <a:bodyPr/>
        <a:lstStyle/>
        <a:p>
          <a:endParaRPr lang="en-US"/>
        </a:p>
      </dgm:t>
    </dgm:pt>
    <dgm:pt modelId="{02FE27D7-E3AF-4CCB-B5D0-25EBB1D27E34}">
      <dgm:prSet/>
      <dgm:spPr/>
      <dgm:t>
        <a:bodyPr/>
        <a:lstStyle/>
        <a:p>
          <a:r>
            <a:rPr lang="en-US"/>
            <a:t>Thef of of intellectual property</a:t>
          </a:r>
        </a:p>
      </dgm:t>
    </dgm:pt>
    <dgm:pt modelId="{1DA22959-E400-40B5-A9E2-B38CEBD2640E}" type="parTrans" cxnId="{0987C2D3-AFC1-4327-B326-E5DFDBDF3ED1}">
      <dgm:prSet/>
      <dgm:spPr/>
      <dgm:t>
        <a:bodyPr/>
        <a:lstStyle/>
        <a:p>
          <a:endParaRPr lang="en-US"/>
        </a:p>
      </dgm:t>
    </dgm:pt>
    <dgm:pt modelId="{0962C59D-4550-4C3B-BB30-7458F50BE6B6}" type="sibTrans" cxnId="{0987C2D3-AFC1-4327-B326-E5DFDBDF3ED1}">
      <dgm:prSet/>
      <dgm:spPr/>
      <dgm:t>
        <a:bodyPr/>
        <a:lstStyle/>
        <a:p>
          <a:endParaRPr lang="en-US"/>
        </a:p>
      </dgm:t>
    </dgm:pt>
    <dgm:pt modelId="{C191FE1A-4043-4B04-8DC9-1C973BC74A57}">
      <dgm:prSet/>
      <dgm:spPr/>
      <dgm:t>
        <a:bodyPr/>
        <a:lstStyle/>
        <a:p>
          <a:r>
            <a:rPr lang="en-US"/>
            <a:t>Identity theft and fraud</a:t>
          </a:r>
        </a:p>
      </dgm:t>
    </dgm:pt>
    <dgm:pt modelId="{F0744491-0A19-4C5B-962B-DAF7F2854233}" type="parTrans" cxnId="{CD0CB9B8-E665-41C2-BAC9-9D5105CE46A4}">
      <dgm:prSet/>
      <dgm:spPr/>
      <dgm:t>
        <a:bodyPr/>
        <a:lstStyle/>
        <a:p>
          <a:endParaRPr lang="en-US"/>
        </a:p>
      </dgm:t>
    </dgm:pt>
    <dgm:pt modelId="{DF95978E-A572-491F-9868-ABA2BBD90730}" type="sibTrans" cxnId="{CD0CB9B8-E665-41C2-BAC9-9D5105CE46A4}">
      <dgm:prSet/>
      <dgm:spPr/>
      <dgm:t>
        <a:bodyPr/>
        <a:lstStyle/>
        <a:p>
          <a:endParaRPr lang="en-US"/>
        </a:p>
      </dgm:t>
    </dgm:pt>
    <dgm:pt modelId="{B2E12B4B-49D4-4F2A-B59E-13995D8E2425}">
      <dgm:prSet/>
      <dgm:spPr/>
      <dgm:t>
        <a:bodyPr/>
        <a:lstStyle/>
        <a:p>
          <a:r>
            <a:rPr lang="en-US"/>
            <a:t>Daily operations affected</a:t>
          </a:r>
        </a:p>
      </dgm:t>
    </dgm:pt>
    <dgm:pt modelId="{50BCB513-010E-45A4-A689-BFE55A286724}" type="parTrans" cxnId="{9EA4674B-1370-4BC6-B6B4-6FD3C875FBC7}">
      <dgm:prSet/>
      <dgm:spPr/>
      <dgm:t>
        <a:bodyPr/>
        <a:lstStyle/>
        <a:p>
          <a:endParaRPr lang="en-US"/>
        </a:p>
      </dgm:t>
    </dgm:pt>
    <dgm:pt modelId="{C81EAC83-D699-443B-813A-594357FE69DF}" type="sibTrans" cxnId="{9EA4674B-1370-4BC6-B6B4-6FD3C875FBC7}">
      <dgm:prSet/>
      <dgm:spPr/>
      <dgm:t>
        <a:bodyPr/>
        <a:lstStyle/>
        <a:p>
          <a:endParaRPr lang="en-US"/>
        </a:p>
      </dgm:t>
    </dgm:pt>
    <dgm:pt modelId="{607954BB-A701-489B-91BD-8DCC36166A0D}" type="pres">
      <dgm:prSet presAssocID="{2CDB7A6C-D671-45A0-AEB5-A53E32FA4C88}" presName="linear" presStyleCnt="0">
        <dgm:presLayoutVars>
          <dgm:animLvl val="lvl"/>
          <dgm:resizeHandles val="exact"/>
        </dgm:presLayoutVars>
      </dgm:prSet>
      <dgm:spPr/>
    </dgm:pt>
    <dgm:pt modelId="{8221896C-272B-4A30-9842-7DF8CB36FE89}" type="pres">
      <dgm:prSet presAssocID="{4EBF7F80-AB57-4BB2-B7C1-C4E003265508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40569496-26C7-4653-AA16-F7870D19471A}" type="pres">
      <dgm:prSet presAssocID="{8A227F2C-3EC5-4F65-BB90-990F27C872DF}" presName="spacer" presStyleCnt="0"/>
      <dgm:spPr/>
    </dgm:pt>
    <dgm:pt modelId="{308B3262-C10D-4307-96FB-1523F5BE4F6D}" type="pres">
      <dgm:prSet presAssocID="{8E51DB01-08BD-4288-A77E-2C90AEBECC9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F1A66C5B-1AAC-4C81-8949-998D8F07CE11}" type="pres">
      <dgm:prSet presAssocID="{C65C96E2-40EE-4D47-AECF-DAD0B65BC68D}" presName="spacer" presStyleCnt="0"/>
      <dgm:spPr/>
    </dgm:pt>
    <dgm:pt modelId="{5BFA4BC1-EF2A-4454-8223-033AE8087C6C}" type="pres">
      <dgm:prSet presAssocID="{AC29A63F-E43B-4C25-9678-F591DE76A4B1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A26A4BC2-E259-441A-8C0B-CBADA3FF10C0}" type="pres">
      <dgm:prSet presAssocID="{F2FA5FDC-5458-4E0D-B430-011D90EBCB03}" presName="spacer" presStyleCnt="0"/>
      <dgm:spPr/>
    </dgm:pt>
    <dgm:pt modelId="{7136D046-443C-4B71-82F1-519ABF7DF6B1}" type="pres">
      <dgm:prSet presAssocID="{02FE27D7-E3AF-4CCB-B5D0-25EBB1D27E34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F4E1C550-B9C8-4147-AF98-98C85AED3EEC}" type="pres">
      <dgm:prSet presAssocID="{0962C59D-4550-4C3B-BB30-7458F50BE6B6}" presName="spacer" presStyleCnt="0"/>
      <dgm:spPr/>
    </dgm:pt>
    <dgm:pt modelId="{C3405119-6B3A-4F83-B61F-CAB7F50DF9F7}" type="pres">
      <dgm:prSet presAssocID="{C191FE1A-4043-4B04-8DC9-1C973BC74A57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061BCC5E-9657-4CDD-A1CD-6013E81608D3}" type="pres">
      <dgm:prSet presAssocID="{DF95978E-A572-491F-9868-ABA2BBD90730}" presName="spacer" presStyleCnt="0"/>
      <dgm:spPr/>
    </dgm:pt>
    <dgm:pt modelId="{6E886F54-89B5-41E7-906F-D35EB6DEB97A}" type="pres">
      <dgm:prSet presAssocID="{B2E12B4B-49D4-4F2A-B59E-13995D8E2425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B66E6A1A-4C23-428A-9BFC-095C24E0864D}" type="presOf" srcId="{8E51DB01-08BD-4288-A77E-2C90AEBECC9D}" destId="{308B3262-C10D-4307-96FB-1523F5BE4F6D}" srcOrd="0" destOrd="0" presId="urn:microsoft.com/office/officeart/2005/8/layout/vList2"/>
    <dgm:cxn modelId="{A063F833-580C-48E5-BFFE-B856ABD614BD}" type="presOf" srcId="{2CDB7A6C-D671-45A0-AEB5-A53E32FA4C88}" destId="{607954BB-A701-489B-91BD-8DCC36166A0D}" srcOrd="0" destOrd="0" presId="urn:microsoft.com/office/officeart/2005/8/layout/vList2"/>
    <dgm:cxn modelId="{05C24E35-4496-4100-BB87-75CCDB62193E}" type="presOf" srcId="{C191FE1A-4043-4B04-8DC9-1C973BC74A57}" destId="{C3405119-6B3A-4F83-B61F-CAB7F50DF9F7}" srcOrd="0" destOrd="0" presId="urn:microsoft.com/office/officeart/2005/8/layout/vList2"/>
    <dgm:cxn modelId="{0FEB9F41-6143-4ABA-BAEF-7C72E8149F2F}" srcId="{2CDB7A6C-D671-45A0-AEB5-A53E32FA4C88}" destId="{4EBF7F80-AB57-4BB2-B7C1-C4E003265508}" srcOrd="0" destOrd="0" parTransId="{BA9366FC-945E-4E17-B303-9E6FE822FEBB}" sibTransId="{8A227F2C-3EC5-4F65-BB90-990F27C872DF}"/>
    <dgm:cxn modelId="{9EA4674B-1370-4BC6-B6B4-6FD3C875FBC7}" srcId="{2CDB7A6C-D671-45A0-AEB5-A53E32FA4C88}" destId="{B2E12B4B-49D4-4F2A-B59E-13995D8E2425}" srcOrd="5" destOrd="0" parTransId="{50BCB513-010E-45A4-A689-BFE55A286724}" sibTransId="{C81EAC83-D699-443B-813A-594357FE69DF}"/>
    <dgm:cxn modelId="{5B4B4174-5166-4BCD-88AD-D7CA804D9DC5}" srcId="{2CDB7A6C-D671-45A0-AEB5-A53E32FA4C88}" destId="{AC29A63F-E43B-4C25-9678-F591DE76A4B1}" srcOrd="2" destOrd="0" parTransId="{19B2C9A2-11DE-4FEB-B14B-CC570DE18369}" sibTransId="{F2FA5FDC-5458-4E0D-B430-011D90EBCB03}"/>
    <dgm:cxn modelId="{580D92A0-01A3-422B-BC3F-29738CE60363}" type="presOf" srcId="{4EBF7F80-AB57-4BB2-B7C1-C4E003265508}" destId="{8221896C-272B-4A30-9842-7DF8CB36FE89}" srcOrd="0" destOrd="0" presId="urn:microsoft.com/office/officeart/2005/8/layout/vList2"/>
    <dgm:cxn modelId="{CD0CB9B8-E665-41C2-BAC9-9D5105CE46A4}" srcId="{2CDB7A6C-D671-45A0-AEB5-A53E32FA4C88}" destId="{C191FE1A-4043-4B04-8DC9-1C973BC74A57}" srcOrd="4" destOrd="0" parTransId="{F0744491-0A19-4C5B-962B-DAF7F2854233}" sibTransId="{DF95978E-A572-491F-9868-ABA2BBD90730}"/>
    <dgm:cxn modelId="{5FE7A4C8-6C97-4D68-884A-9E0AF1DFFAE7}" srcId="{2CDB7A6C-D671-45A0-AEB5-A53E32FA4C88}" destId="{8E51DB01-08BD-4288-A77E-2C90AEBECC9D}" srcOrd="1" destOrd="0" parTransId="{CF812AF2-BF34-4122-BA42-6B1BF7FCC650}" sibTransId="{C65C96E2-40EE-4D47-AECF-DAD0B65BC68D}"/>
    <dgm:cxn modelId="{0987C2D3-AFC1-4327-B326-E5DFDBDF3ED1}" srcId="{2CDB7A6C-D671-45A0-AEB5-A53E32FA4C88}" destId="{02FE27D7-E3AF-4CCB-B5D0-25EBB1D27E34}" srcOrd="3" destOrd="0" parTransId="{1DA22959-E400-40B5-A9E2-B38CEBD2640E}" sibTransId="{0962C59D-4550-4C3B-BB30-7458F50BE6B6}"/>
    <dgm:cxn modelId="{ED0902D8-1BF8-4F0D-BA89-31099D8AF8D1}" type="presOf" srcId="{02FE27D7-E3AF-4CCB-B5D0-25EBB1D27E34}" destId="{7136D046-443C-4B71-82F1-519ABF7DF6B1}" srcOrd="0" destOrd="0" presId="urn:microsoft.com/office/officeart/2005/8/layout/vList2"/>
    <dgm:cxn modelId="{11CDADDC-A0FE-429C-B9EC-EF0683E70BD3}" type="presOf" srcId="{B2E12B4B-49D4-4F2A-B59E-13995D8E2425}" destId="{6E886F54-89B5-41E7-906F-D35EB6DEB97A}" srcOrd="0" destOrd="0" presId="urn:microsoft.com/office/officeart/2005/8/layout/vList2"/>
    <dgm:cxn modelId="{4CADF0F7-92DB-4662-BD58-53091287BD95}" type="presOf" srcId="{AC29A63F-E43B-4C25-9678-F591DE76A4B1}" destId="{5BFA4BC1-EF2A-4454-8223-033AE8087C6C}" srcOrd="0" destOrd="0" presId="urn:microsoft.com/office/officeart/2005/8/layout/vList2"/>
    <dgm:cxn modelId="{C5C4F5A8-F4D4-4386-A856-D45744A6CB0A}" type="presParOf" srcId="{607954BB-A701-489B-91BD-8DCC36166A0D}" destId="{8221896C-272B-4A30-9842-7DF8CB36FE89}" srcOrd="0" destOrd="0" presId="urn:microsoft.com/office/officeart/2005/8/layout/vList2"/>
    <dgm:cxn modelId="{DE37E071-6071-4A5F-96B0-7FF212AC6714}" type="presParOf" srcId="{607954BB-A701-489B-91BD-8DCC36166A0D}" destId="{40569496-26C7-4653-AA16-F7870D19471A}" srcOrd="1" destOrd="0" presId="urn:microsoft.com/office/officeart/2005/8/layout/vList2"/>
    <dgm:cxn modelId="{8F572C7A-2F21-4EFD-A78C-DA5D36030023}" type="presParOf" srcId="{607954BB-A701-489B-91BD-8DCC36166A0D}" destId="{308B3262-C10D-4307-96FB-1523F5BE4F6D}" srcOrd="2" destOrd="0" presId="urn:microsoft.com/office/officeart/2005/8/layout/vList2"/>
    <dgm:cxn modelId="{4437238D-6CED-4E59-AEBB-41808CEEB739}" type="presParOf" srcId="{607954BB-A701-489B-91BD-8DCC36166A0D}" destId="{F1A66C5B-1AAC-4C81-8949-998D8F07CE11}" srcOrd="3" destOrd="0" presId="urn:microsoft.com/office/officeart/2005/8/layout/vList2"/>
    <dgm:cxn modelId="{A5254D5E-16C8-449D-80BD-1C3ECB1BF56F}" type="presParOf" srcId="{607954BB-A701-489B-91BD-8DCC36166A0D}" destId="{5BFA4BC1-EF2A-4454-8223-033AE8087C6C}" srcOrd="4" destOrd="0" presId="urn:microsoft.com/office/officeart/2005/8/layout/vList2"/>
    <dgm:cxn modelId="{95585700-211C-45B5-83C7-C417439E477E}" type="presParOf" srcId="{607954BB-A701-489B-91BD-8DCC36166A0D}" destId="{A26A4BC2-E259-441A-8C0B-CBADA3FF10C0}" srcOrd="5" destOrd="0" presId="urn:microsoft.com/office/officeart/2005/8/layout/vList2"/>
    <dgm:cxn modelId="{D41E2EDA-1DBD-4CA3-91E2-52431476E6D7}" type="presParOf" srcId="{607954BB-A701-489B-91BD-8DCC36166A0D}" destId="{7136D046-443C-4B71-82F1-519ABF7DF6B1}" srcOrd="6" destOrd="0" presId="urn:microsoft.com/office/officeart/2005/8/layout/vList2"/>
    <dgm:cxn modelId="{2BB30F49-AC86-4BC4-9D08-2F1E727FC2AD}" type="presParOf" srcId="{607954BB-A701-489B-91BD-8DCC36166A0D}" destId="{F4E1C550-B9C8-4147-AF98-98C85AED3EEC}" srcOrd="7" destOrd="0" presId="urn:microsoft.com/office/officeart/2005/8/layout/vList2"/>
    <dgm:cxn modelId="{00B333EA-81D8-4C37-8397-10C384F2BAA8}" type="presParOf" srcId="{607954BB-A701-489B-91BD-8DCC36166A0D}" destId="{C3405119-6B3A-4F83-B61F-CAB7F50DF9F7}" srcOrd="8" destOrd="0" presId="urn:microsoft.com/office/officeart/2005/8/layout/vList2"/>
    <dgm:cxn modelId="{17B70AA4-315F-4A62-9671-80147D416374}" type="presParOf" srcId="{607954BB-A701-489B-91BD-8DCC36166A0D}" destId="{061BCC5E-9657-4CDD-A1CD-6013E81608D3}" srcOrd="9" destOrd="0" presId="urn:microsoft.com/office/officeart/2005/8/layout/vList2"/>
    <dgm:cxn modelId="{59311946-F539-4CFD-912A-3759B360FE88}" type="presParOf" srcId="{607954BB-A701-489B-91BD-8DCC36166A0D}" destId="{6E886F54-89B5-41E7-906F-D35EB6DEB97A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6AD325-63F0-4EDA-A670-C7DEBC5628D1}">
      <dsp:nvSpPr>
        <dsp:cNvPr id="0" name=""/>
        <dsp:cNvSpPr/>
      </dsp:nvSpPr>
      <dsp:spPr>
        <a:xfrm>
          <a:off x="1673969" y="181589"/>
          <a:ext cx="1354790" cy="88061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Phishing</a:t>
          </a:r>
        </a:p>
      </dsp:txBody>
      <dsp:txXfrm>
        <a:off x="1716957" y="224577"/>
        <a:ext cx="1268814" cy="794637"/>
      </dsp:txXfrm>
    </dsp:sp>
    <dsp:sp modelId="{AE695544-E944-4544-9434-DA367FF76F56}">
      <dsp:nvSpPr>
        <dsp:cNvPr id="0" name=""/>
        <dsp:cNvSpPr/>
      </dsp:nvSpPr>
      <dsp:spPr>
        <a:xfrm>
          <a:off x="592236" y="621896"/>
          <a:ext cx="3518256" cy="3518256"/>
        </a:xfrm>
        <a:custGeom>
          <a:avLst/>
          <a:gdLst/>
          <a:ahLst/>
          <a:cxnLst/>
          <a:rect l="0" t="0" r="0" b="0"/>
          <a:pathLst>
            <a:path>
              <a:moveTo>
                <a:pt x="2617960" y="223895"/>
              </a:moveTo>
              <a:arcTo wR="1759128" hR="1759128" stAng="17953397" swAng="1211599"/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B127B5-10FD-4349-9612-5377C6383E82}">
      <dsp:nvSpPr>
        <dsp:cNvPr id="0" name=""/>
        <dsp:cNvSpPr/>
      </dsp:nvSpPr>
      <dsp:spPr>
        <a:xfrm>
          <a:off x="3347000" y="1397117"/>
          <a:ext cx="1354790" cy="88061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Ransomware</a:t>
          </a:r>
        </a:p>
      </dsp:txBody>
      <dsp:txXfrm>
        <a:off x="3389988" y="1440105"/>
        <a:ext cx="1268814" cy="794637"/>
      </dsp:txXfrm>
    </dsp:sp>
    <dsp:sp modelId="{8075469B-F475-4378-AEFE-2FF84C614DDD}">
      <dsp:nvSpPr>
        <dsp:cNvPr id="0" name=""/>
        <dsp:cNvSpPr/>
      </dsp:nvSpPr>
      <dsp:spPr>
        <a:xfrm>
          <a:off x="592236" y="621896"/>
          <a:ext cx="3518256" cy="3518256"/>
        </a:xfrm>
        <a:custGeom>
          <a:avLst/>
          <a:gdLst/>
          <a:ahLst/>
          <a:cxnLst/>
          <a:rect l="0" t="0" r="0" b="0"/>
          <a:pathLst>
            <a:path>
              <a:moveTo>
                <a:pt x="3514037" y="1880890"/>
              </a:moveTo>
              <a:arcTo wR="1759128" hR="1759128" stAng="21838142" swAng="1359773"/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680125-6463-4FDC-8381-83E2303A3488}">
      <dsp:nvSpPr>
        <dsp:cNvPr id="0" name=""/>
        <dsp:cNvSpPr/>
      </dsp:nvSpPr>
      <dsp:spPr>
        <a:xfrm>
          <a:off x="2707959" y="3363882"/>
          <a:ext cx="1354790" cy="88061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Insider threats</a:t>
          </a:r>
        </a:p>
      </dsp:txBody>
      <dsp:txXfrm>
        <a:off x="2750947" y="3406870"/>
        <a:ext cx="1268814" cy="794637"/>
      </dsp:txXfrm>
    </dsp:sp>
    <dsp:sp modelId="{CDD73496-7ACE-4430-ACC2-5B5480959107}">
      <dsp:nvSpPr>
        <dsp:cNvPr id="0" name=""/>
        <dsp:cNvSpPr/>
      </dsp:nvSpPr>
      <dsp:spPr>
        <a:xfrm>
          <a:off x="592236" y="621896"/>
          <a:ext cx="3518256" cy="3518256"/>
        </a:xfrm>
        <a:custGeom>
          <a:avLst/>
          <a:gdLst/>
          <a:ahLst/>
          <a:cxnLst/>
          <a:rect l="0" t="0" r="0" b="0"/>
          <a:pathLst>
            <a:path>
              <a:moveTo>
                <a:pt x="1975027" y="3504957"/>
              </a:moveTo>
              <a:arcTo wR="1759128" hR="1759128" stAng="4977016" swAng="845969"/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F0EBF4-4E1E-4C68-9763-074571D804C0}">
      <dsp:nvSpPr>
        <dsp:cNvPr id="0" name=""/>
        <dsp:cNvSpPr/>
      </dsp:nvSpPr>
      <dsp:spPr>
        <a:xfrm>
          <a:off x="639980" y="3363882"/>
          <a:ext cx="1354790" cy="88061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Iot devices</a:t>
          </a:r>
        </a:p>
      </dsp:txBody>
      <dsp:txXfrm>
        <a:off x="682968" y="3406870"/>
        <a:ext cx="1268814" cy="794637"/>
      </dsp:txXfrm>
    </dsp:sp>
    <dsp:sp modelId="{A5CCC3B4-932A-4A5A-B8E1-AA93129A6FD5}">
      <dsp:nvSpPr>
        <dsp:cNvPr id="0" name=""/>
        <dsp:cNvSpPr/>
      </dsp:nvSpPr>
      <dsp:spPr>
        <a:xfrm>
          <a:off x="592236" y="621896"/>
          <a:ext cx="3518256" cy="3518256"/>
        </a:xfrm>
        <a:custGeom>
          <a:avLst/>
          <a:gdLst/>
          <a:ahLst/>
          <a:cxnLst/>
          <a:rect l="0" t="0" r="0" b="0"/>
          <a:pathLst>
            <a:path>
              <a:moveTo>
                <a:pt x="186635" y="2547670"/>
              </a:moveTo>
              <a:arcTo wR="1759128" hR="1759128" stAng="9202085" swAng="1359773"/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4F42AF-5229-4BE2-A913-0248EDB21B84}">
      <dsp:nvSpPr>
        <dsp:cNvPr id="0" name=""/>
        <dsp:cNvSpPr/>
      </dsp:nvSpPr>
      <dsp:spPr>
        <a:xfrm>
          <a:off x="939" y="1397117"/>
          <a:ext cx="1354790" cy="880613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Older it systems </a:t>
          </a:r>
        </a:p>
      </dsp:txBody>
      <dsp:txXfrm>
        <a:off x="43927" y="1440105"/>
        <a:ext cx="1268814" cy="794637"/>
      </dsp:txXfrm>
    </dsp:sp>
    <dsp:sp modelId="{615EC00E-65EA-4868-A1FF-73B143DDFDA5}">
      <dsp:nvSpPr>
        <dsp:cNvPr id="0" name=""/>
        <dsp:cNvSpPr/>
      </dsp:nvSpPr>
      <dsp:spPr>
        <a:xfrm>
          <a:off x="592236" y="621896"/>
          <a:ext cx="3518256" cy="3518256"/>
        </a:xfrm>
        <a:custGeom>
          <a:avLst/>
          <a:gdLst/>
          <a:ahLst/>
          <a:cxnLst/>
          <a:rect l="0" t="0" r="0" b="0"/>
          <a:pathLst>
            <a:path>
              <a:moveTo>
                <a:pt x="423140" y="614720"/>
              </a:moveTo>
              <a:arcTo wR="1759128" hR="1759128" stAng="13235004" swAng="1211599"/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21896C-272B-4A30-9842-7DF8CB36FE89}">
      <dsp:nvSpPr>
        <dsp:cNvPr id="0" name=""/>
        <dsp:cNvSpPr/>
      </dsp:nvSpPr>
      <dsp:spPr>
        <a:xfrm>
          <a:off x="0" y="23506"/>
          <a:ext cx="5968567" cy="56511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Loss of repuation</a:t>
          </a:r>
        </a:p>
      </dsp:txBody>
      <dsp:txXfrm>
        <a:off x="27586" y="51092"/>
        <a:ext cx="5913395" cy="509938"/>
      </dsp:txXfrm>
    </dsp:sp>
    <dsp:sp modelId="{308B3262-C10D-4307-96FB-1523F5BE4F6D}">
      <dsp:nvSpPr>
        <dsp:cNvPr id="0" name=""/>
        <dsp:cNvSpPr/>
      </dsp:nvSpPr>
      <dsp:spPr>
        <a:xfrm>
          <a:off x="0" y="654856"/>
          <a:ext cx="5968567" cy="565110"/>
        </a:xfrm>
        <a:prstGeom prst="roundRect">
          <a:avLst/>
        </a:prstGeom>
        <a:solidFill>
          <a:schemeClr val="accent5">
            <a:hueOff val="310843"/>
            <a:satOff val="-555"/>
            <a:lumOff val="-20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Financial costs</a:t>
          </a:r>
        </a:p>
      </dsp:txBody>
      <dsp:txXfrm>
        <a:off x="27586" y="682442"/>
        <a:ext cx="5913395" cy="509938"/>
      </dsp:txXfrm>
    </dsp:sp>
    <dsp:sp modelId="{5BFA4BC1-EF2A-4454-8223-033AE8087C6C}">
      <dsp:nvSpPr>
        <dsp:cNvPr id="0" name=""/>
        <dsp:cNvSpPr/>
      </dsp:nvSpPr>
      <dsp:spPr>
        <a:xfrm>
          <a:off x="0" y="1286206"/>
          <a:ext cx="5968567" cy="565110"/>
        </a:xfrm>
        <a:prstGeom prst="roundRect">
          <a:avLst/>
        </a:prstGeom>
        <a:solidFill>
          <a:schemeClr val="accent5">
            <a:hueOff val="621686"/>
            <a:satOff val="-1110"/>
            <a:lumOff val="-40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Legal repercusions </a:t>
          </a:r>
        </a:p>
      </dsp:txBody>
      <dsp:txXfrm>
        <a:off x="27586" y="1313792"/>
        <a:ext cx="5913395" cy="509938"/>
      </dsp:txXfrm>
    </dsp:sp>
    <dsp:sp modelId="{7136D046-443C-4B71-82F1-519ABF7DF6B1}">
      <dsp:nvSpPr>
        <dsp:cNvPr id="0" name=""/>
        <dsp:cNvSpPr/>
      </dsp:nvSpPr>
      <dsp:spPr>
        <a:xfrm>
          <a:off x="0" y="1917556"/>
          <a:ext cx="5968567" cy="565110"/>
        </a:xfrm>
        <a:prstGeom prst="roundRect">
          <a:avLst/>
        </a:prstGeom>
        <a:solidFill>
          <a:schemeClr val="accent5">
            <a:hueOff val="932530"/>
            <a:satOff val="-1665"/>
            <a:lumOff val="-6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Thef of of intellectual property</a:t>
          </a:r>
        </a:p>
      </dsp:txBody>
      <dsp:txXfrm>
        <a:off x="27586" y="1945142"/>
        <a:ext cx="5913395" cy="509938"/>
      </dsp:txXfrm>
    </dsp:sp>
    <dsp:sp modelId="{C3405119-6B3A-4F83-B61F-CAB7F50DF9F7}">
      <dsp:nvSpPr>
        <dsp:cNvPr id="0" name=""/>
        <dsp:cNvSpPr/>
      </dsp:nvSpPr>
      <dsp:spPr>
        <a:xfrm>
          <a:off x="0" y="2548906"/>
          <a:ext cx="5968567" cy="565110"/>
        </a:xfrm>
        <a:prstGeom prst="roundRect">
          <a:avLst/>
        </a:prstGeom>
        <a:solidFill>
          <a:schemeClr val="accent5">
            <a:hueOff val="1243373"/>
            <a:satOff val="-2220"/>
            <a:lumOff val="-8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Identity theft and fraud</a:t>
          </a:r>
        </a:p>
      </dsp:txBody>
      <dsp:txXfrm>
        <a:off x="27586" y="2576492"/>
        <a:ext cx="5913395" cy="509938"/>
      </dsp:txXfrm>
    </dsp:sp>
    <dsp:sp modelId="{6E886F54-89B5-41E7-906F-D35EB6DEB97A}">
      <dsp:nvSpPr>
        <dsp:cNvPr id="0" name=""/>
        <dsp:cNvSpPr/>
      </dsp:nvSpPr>
      <dsp:spPr>
        <a:xfrm>
          <a:off x="0" y="3180256"/>
          <a:ext cx="5968567" cy="565110"/>
        </a:xfrm>
        <a:prstGeom prst="roundRect">
          <a:avLst/>
        </a:prstGeom>
        <a:solidFill>
          <a:schemeClr val="accent5">
            <a:hueOff val="1554216"/>
            <a:satOff val="-2775"/>
            <a:lumOff val="-101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Daily operations affected</a:t>
          </a:r>
        </a:p>
      </dsp:txBody>
      <dsp:txXfrm>
        <a:off x="27586" y="3207842"/>
        <a:ext cx="5913395" cy="5099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04B9809-3C73-CA2B-1791-620EA168CC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7B1C58-A1FD-D1E1-33AB-1303C48435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AA30A-158D-435B-B1F3-6FF82BD60FDF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17A0D9-659F-DDC6-CBD8-29B61E0FF7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9E0617-6128-05F5-8F48-6A0A1D1479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A24AC-02A6-46A1-A072-EAC8AC25DC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9198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A0313-F537-4ED0-973B-4729E10A826A}" type="datetimeFigureOut">
              <a:rPr lang="en-US" smtClean="0"/>
              <a:t>3/26/2026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C92804-03A6-47F6-A893-4DDB8903A8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717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182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839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977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D5A4D-CB6F-8C29-2655-62B8C229D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8B196E-C94F-F387-7BDF-0A175D8089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0C94C0-27C0-12CA-46E2-308160236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F26EF-E11C-9276-4115-0358A00046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4134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2065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A5B96-D403-3DCC-140D-E7AB51505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4A5624-F3AE-EBEE-431C-1448E08DF6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765A82-E6B2-467A-4282-156E559223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C204C-B1C2-0A1C-9284-B99A7F5D03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4321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720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6234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F6BF3-820A-0779-5824-944E34273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79005B-2A24-4E8C-16D6-603265462A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76A7F6-3A07-7C86-E04E-7157178EC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5049D-B7EE-7789-745E-1FF0D46858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1145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0BA78-DD56-7D38-28CD-A6B8693E6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166940-BA94-93F0-EB7D-42E1CEDFE5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3D4753-CB5F-0339-A0F0-5F3CF3ED4D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23CBB-0F75-29DB-4BE4-553FE2D182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2752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A6B7D-B0C0-8471-BB3F-7E13B496B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1F3332-F934-5ECC-C8FF-C4CCC19EEF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3222FE-FBD9-4E23-E20B-94C339EF6B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02632-91BE-427C-4EA4-7F54441735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3974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841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C7A07-96C3-42AF-943D-953C86C3D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0472" y="1463557"/>
            <a:ext cx="9144000" cy="2387600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5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E38DF-F503-4E79-B1B0-16489708A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0472" y="3943232"/>
            <a:ext cx="9144000" cy="1655762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6538D75-00C2-DE73-4C65-FE94AC658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B601B81-68C1-B63A-105C-EC637DF56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9F3E495-0415-392A-9A07-34555BBC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42765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4413-82C1-4EBC-8C6B-BC5F842D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lnSpc>
                <a:spcPct val="90000"/>
              </a:lnSpc>
              <a:defRPr sz="5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029A-192E-4A44-ACC7-6C5212C77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4" y="1825625"/>
            <a:ext cx="10515600" cy="420638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25CBB87-BE9B-82CE-8A24-F21EEA03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131628-C033-9728-C4CF-90CDBCB8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67216CA-9A26-BBE7-68A3-9237D22CD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12729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F4BC-D1E9-40F0-A26B-9EA9B6B69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081941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974A6-FAB9-47DA-8F1A-701DFC8DF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3961666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B034DD9-4A61-318F-88CF-79721B55A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496DA99-E916-9F7C-9E88-AA06046AE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1CC86B5-B6B3-4633-0D90-AACB44D0D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2490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8F7F10-35F6-E392-D41B-3CD300D5CCF8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64F76-994F-4AB5-B17B-46C0C2FA5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69B3B-A540-4556-98C8-1F49704A7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624" y="1825625"/>
            <a:ext cx="5181600" cy="420638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>
              <a:buChar char="¬"/>
            </a:pPr>
            <a:r>
              <a:rPr lang="en-GB"/>
              <a:t>Click to edit Master text styles</a:t>
            </a:r>
          </a:p>
          <a:p>
            <a:pPr lvl="1">
              <a:buChar char="¬"/>
            </a:pPr>
            <a:r>
              <a:rPr lang="en-GB"/>
              <a:t>Second level</a:t>
            </a:r>
          </a:p>
          <a:p>
            <a:pPr lvl="2">
              <a:buChar char="¬"/>
            </a:pPr>
            <a:r>
              <a:rPr lang="en-GB"/>
              <a:t>Third level</a:t>
            </a:r>
          </a:p>
          <a:p>
            <a:pPr lvl="3">
              <a:buChar char="¬"/>
            </a:pPr>
            <a:r>
              <a:rPr lang="en-GB"/>
              <a:t>Fourth level</a:t>
            </a:r>
          </a:p>
          <a:p>
            <a:pPr lvl="4">
              <a:buChar char="¬"/>
            </a:pPr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72438-7C63-48F2-9D6F-2461BFD6D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56178" y="1825625"/>
            <a:ext cx="5180046" cy="4206382"/>
          </a:xfrm>
        </p:spPr>
        <p:txBody>
          <a:bodyPr/>
          <a:lstStyle>
            <a:lvl1pPr marL="228600" indent="-228600">
              <a:buFont typeface="Wingdings 2" panose="05020102010507070707" pitchFamily="18" charset="2"/>
              <a:buChar char="¬"/>
              <a:defRPr/>
            </a:lvl1pPr>
            <a:lvl2pPr marL="685800" indent="-228600">
              <a:buFont typeface="Wingdings 2" panose="05020102010507070707" pitchFamily="18" charset="2"/>
              <a:buChar char="¬"/>
              <a:defRPr/>
            </a:lvl2pPr>
            <a:lvl3pPr marL="1143000" indent="-228600">
              <a:buFont typeface="Wingdings 2" panose="05020102010507070707" pitchFamily="18" charset="2"/>
              <a:buChar char="¬"/>
              <a:defRPr/>
            </a:lvl3pPr>
            <a:lvl4pPr marL="1600200" indent="-228600">
              <a:buFont typeface="Wingdings 2" panose="05020102010507070707" pitchFamily="18" charset="2"/>
              <a:buChar char="¬"/>
              <a:defRPr/>
            </a:lvl4pPr>
            <a:lvl5pPr marL="2057400" indent="-228600">
              <a:buFont typeface="Wingdings 2" panose="05020102010507070707" pitchFamily="18" charset="2"/>
              <a:buChar char="¬"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5274CEC-210E-BC97-9B79-A7D801E4B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86B3D53-F805-C08E-2359-498218FC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1C4695B-D7BD-45F7-EB23-6FDAF241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61204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A1F52B7-5271-53AA-8260-0CF50FF8DA3C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78" y="365125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5DDA7-4AAD-4EBE-880C-200E5F10A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17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2178" y="2505075"/>
            <a:ext cx="5157787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C438EA-D381-4F22-A911-ECDD6D04F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5459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54590" y="2505075"/>
            <a:ext cx="5183188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198C3F1-4E77-7888-CDB8-CF9406E4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93561D3-90F6-AD82-BCFE-90F9427D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2F9B33-3FA7-526F-7B45-342EB64A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46545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F235-FBFF-453E-B90A-5758ED47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938306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9328E63-E075-39E2-BAA7-30CCAE2E7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894A5-0E01-F43E-C68A-2EFAB2EB8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250128C-CE40-2B40-1B89-7E9AAAAC4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50277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281B99-C6A0-F92A-BDD3-BB362196501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B8367C-67E1-A50A-1584-F859A6FED9C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B8861-51D7-741E-6B2C-25412D40E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69A2F-0657-B33B-8334-C458A9538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4FC84-48ED-0480-2497-FCD84C127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31472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12261-8522-4437-B612-7C7100D1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10512425" cy="1600200"/>
          </a:xfrm>
        </p:spPr>
        <p:txBody>
          <a:bodyPr anchor="b">
            <a:normAutofit/>
          </a:bodyPr>
          <a:lstStyle>
            <a:lvl1pPr>
              <a:defRPr sz="5200">
                <a:latin typeface="Dante (Headings)2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A0AF-3F50-42BD-84B4-E70C3D004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2830" y="2199340"/>
            <a:ext cx="6172200" cy="366171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C702B-2C4D-4590-8BEE-31940145C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3F37370-7C05-0AAE-A0C3-9EE620A84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900B8E3-39E6-A88A-BBFB-717596EB3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48E340D-1840-D987-3EEA-963BDDE31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05018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334B-3019-4CA1-B658-77900192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3932237" cy="16002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D3CC12-FD6B-41A3-BF67-D600CC438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81276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B2BD5-DC18-460B-BFCC-5B2447D2B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0F28E44-58BB-553B-BBD0-F292C66C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F22D156-E5FE-F118-0553-B401F1965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8AEE0A6-6120-9BA2-5751-E0E2D8CF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9915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D930A-6467-4C46-BA13-A0F5EC12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1977A-7872-4BE8-8C5C-D2099BEDB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68C47-2910-B99C-EC67-F6649ADC2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019515-4A04-FBE0-E89C-86ECBB7E9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D9C272-2490-C827-9BE5-9CEE41850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05413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76A9FC-D582-4FC8-B641-9F77B4DD1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32613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A1683-12F6-4BA6-AD1A-F98C60951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943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F68BE-C313-C839-B719-0339AC344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4F4E5F-FFF4-F934-3DD9-134F8D242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FE0F82-88EB-FAE2-FC02-99D5EE301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20741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F7D84AA-0BCE-9C85-4510-34EBAE061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524" y="708955"/>
            <a:ext cx="12193526" cy="5463893"/>
            <a:chOff x="-1524" y="708955"/>
            <a:chExt cx="12193526" cy="546389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41002A6-9DB7-26A1-2425-8C496B953CA4}"/>
                </a:ext>
              </a:extLst>
            </p:cNvPr>
            <p:cNvSpPr/>
            <p:nvPr userDrawn="1"/>
          </p:nvSpPr>
          <p:spPr>
            <a:xfrm>
              <a:off x="-1524" y="709613"/>
              <a:ext cx="12192000" cy="5463235"/>
            </a:xfrm>
            <a:prstGeom prst="rect">
              <a:avLst/>
            </a:prstGeom>
            <a:solidFill>
              <a:schemeClr val="accent3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9F029623-B14D-1CDC-9D8F-47D563937B5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43670" t="-7182" r="-9886" b="52046"/>
            <a:stretch/>
          </p:blipFill>
          <p:spPr>
            <a:xfrm>
              <a:off x="-1" y="1162050"/>
              <a:ext cx="5568949" cy="5009032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B4D8031F-ED2A-8D7E-D369-6BF3256FE3F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256" t="-7183" r="44925" b="48899"/>
            <a:stretch/>
          </p:blipFill>
          <p:spPr>
            <a:xfrm rot="16200000">
              <a:off x="7239292" y="366674"/>
              <a:ext cx="4610430" cy="5294991"/>
            </a:xfrm>
            <a:prstGeom prst="rect">
              <a:avLst/>
            </a:prstGeom>
          </p:spPr>
        </p:pic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A28D3FB-54EA-410D-A062-8F118E5D0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593477A-1279-4BCC-8257-14CC2361F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7F04C86-E215-DFBB-8302-70BCCDFC2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708956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F29577F-647F-5850-5636-6ED05B995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9482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CBFB4F-DC16-FC59-E9E7-B92910449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6429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3690604-E7DB-AFA3-7E13-CAFF46FF5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7968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E2874C2-BA39-4778-DC11-487CC4FCA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6D6334D-FB4A-4843-F2FB-1CAC50021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8695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FC043C06-5053-E291-E708-44B684DC5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932" y="1115167"/>
            <a:ext cx="8534136" cy="4655385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68248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F9E0CFE-F27B-4D50-AA2F-7146CA90E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" y="2138289"/>
            <a:ext cx="12188952" cy="4033912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C488A36-B0CB-7B46-C2A6-BA57D39EC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7860" r="37853" b="27738"/>
          <a:stretch/>
        </p:blipFill>
        <p:spPr>
          <a:xfrm>
            <a:off x="6962087" y="2143124"/>
            <a:ext cx="5226865" cy="403383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A8614BA2-9387-F1B5-B7DB-B34DAE90FE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177" y="365125"/>
            <a:ext cx="10778937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994EC89-4FAE-445C-A6E8-D55E4A34DE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2899" y="2350108"/>
            <a:ext cx="10778221" cy="3609461"/>
          </a:xfrm>
        </p:spPr>
        <p:txBody>
          <a:bodyPr anchor="ctr" anchorCtr="0">
            <a:normAutofit/>
          </a:bodyPr>
          <a:lstStyle>
            <a:lvl1pPr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9ECF93F-3E86-4C44-BAF1-ADE160CAD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A80DA6A-71F3-6286-F60A-EEEC918871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F98B46-5DFC-3487-EB05-148905CA6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138288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768F8E-3DFF-8D92-E3CF-5AE5F6DA5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045761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E83A1EA-5EE3-D81A-D135-860F481F6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64727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EA58FF-2FB1-3B78-FDCF-E5DC2EFE5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326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0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C2EA47A-F66B-4005-A5A4-458E90C096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2897" y="576263"/>
            <a:ext cx="5646541" cy="3304494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pPr algn="l">
              <a:lnSpc>
                <a:spcPts val="5800"/>
              </a:lnSpc>
            </a:pPr>
            <a:r>
              <a:rPr lang="en-US" sz="4800" dirty="0"/>
              <a:t>Click to add title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415B1A-CA14-E219-0C7F-0B38B1684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83096" y="1"/>
            <a:ext cx="5013088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2BA35BB-6689-91C0-7D75-944092B3C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1949B5-8206-3159-8E9E-E95F2A9AA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483096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97BFBC-DA17-6BEB-A937-333E9504D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363569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F9A5C70-EFC4-1BAB-285F-B317FAF4744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2275" y="4148138"/>
            <a:ext cx="5673726" cy="15287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C073F905-5A3E-F9EB-B095-7A3A17C1E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2249" t="13424" r="28018" b="11087"/>
          <a:stretch/>
        </p:blipFill>
        <p:spPr>
          <a:xfrm>
            <a:off x="6472427" y="0"/>
            <a:ext cx="50237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01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77B93E-437F-D9D6-D3D1-6DE5F025A4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44200" y="1"/>
            <a:ext cx="751984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B74AAE1C-171A-32A3-E6FD-75252CAB8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796" t="12194" r="49125" b="12256"/>
          <a:stretch/>
        </p:blipFill>
        <p:spPr>
          <a:xfrm>
            <a:off x="10732660" y="-5609"/>
            <a:ext cx="763524" cy="6863608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581E4B7-6D97-63BF-7E87-5E71F8BD8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178" y="365125"/>
            <a:ext cx="9733538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630934-DBD2-4535-961F-B198ABA2D05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6" y="2198915"/>
            <a:ext cx="9741183" cy="3345316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 baseline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20D2A6-7700-487F-AC7E-A5A2C30DC1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FC30D6A-6415-42E1-89E9-EF806C3FE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05DBF26-BAB3-D5FD-5EA7-310263D4CA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940584B-2A03-52F7-B667-9CD1A2BD7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3C0872-DC48-53B1-8569-7A913D92D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0744200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35D700-0F05-E0E7-FB42-2FC890C26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0630770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5C00B3F-62BE-8535-5239-46279DF1B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052457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4541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B6FBD3-8FFB-2E51-CAC4-CFB7B5AF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491640" y="0"/>
            <a:ext cx="708823" cy="713232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178" y="365125"/>
            <a:ext cx="10660350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2178" y="2198914"/>
            <a:ext cx="5157787" cy="3455925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28600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143000">
              <a:spcBef>
                <a:spcPts val="1000"/>
              </a:spcBef>
              <a:defRPr sz="1800"/>
            </a:lvl4pPr>
            <a:lvl5pPr marL="160020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198C3F1-4E77-7888-CDB8-CF9406E4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93561D3-90F6-AD82-BCFE-90F9427D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2F9B33-3FA7-526F-7B45-342EB64A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3152" y="0"/>
            <a:ext cx="685800" cy="685800"/>
          </a:xfrm>
        </p:spPr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620B83B-1673-865A-1958-873C4765EFA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924741" y="2198913"/>
            <a:ext cx="5157787" cy="3455925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28600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143000">
              <a:spcBef>
                <a:spcPts val="1000"/>
              </a:spcBef>
              <a:defRPr sz="1800"/>
            </a:lvl4pPr>
            <a:lvl5pPr marL="160020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89020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 2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624" y="365125"/>
            <a:ext cx="10654936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sz="4400" dirty="0"/>
              <a:t>Click to add title 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105342" y="2198914"/>
            <a:ext cx="3970218" cy="344598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845EA08-ECD8-E8B5-40BF-E899F315098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0C4E27-95CA-78A5-BD7A-6109D75C8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504656" y="2020824"/>
            <a:ext cx="687343" cy="1896697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8AE4F7BC-B724-2456-4104-1C5E254EEF3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22178" y="2198914"/>
            <a:ext cx="6487908" cy="3455925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28600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143000">
              <a:spcBef>
                <a:spcPts val="1000"/>
              </a:spcBef>
              <a:defRPr sz="1800"/>
            </a:lvl4pPr>
            <a:lvl5pPr marL="160020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32285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4408E76-0AE4-495F-87FB-5DD280A91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491640" y="5610"/>
            <a:ext cx="708823" cy="713232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130D9-40F7-D817-3F42-72C9D58579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843" y="667582"/>
            <a:ext cx="5102717" cy="2482018"/>
          </a:xfrm>
        </p:spPr>
        <p:txBody>
          <a:bodyPr anchor="t" anchorCtr="0">
            <a:noAutofit/>
          </a:bodyPr>
          <a:lstStyle>
            <a:lvl1pPr>
              <a:defRPr sz="4400"/>
            </a:lvl1pPr>
          </a:lstStyle>
          <a:p>
            <a:r>
              <a:rPr lang="en-US" sz="4400" dirty="0"/>
              <a:t>Click to add title 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88A7439-0E5E-18D2-A4C7-D377032ED25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668964" y="667582"/>
            <a:ext cx="5827220" cy="2482018"/>
          </a:xfrm>
        </p:spPr>
        <p:txBody>
          <a:bodyPr tIns="91440"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2"/>
                </a:solidFill>
              </a:defRPr>
            </a:lvl2pPr>
            <a:lvl3pPr marL="914400" indent="0">
              <a:buNone/>
              <a:defRPr sz="1800">
                <a:solidFill>
                  <a:schemeClr val="tx2"/>
                </a:solidFill>
              </a:defRPr>
            </a:lvl3pPr>
            <a:lvl4pPr marL="1371600" indent="0">
              <a:buNone/>
              <a:defRPr sz="1800">
                <a:solidFill>
                  <a:schemeClr val="tx2"/>
                </a:solidFill>
              </a:defRPr>
            </a:lvl4pPr>
            <a:lvl5pPr marL="1828800" indent="0">
              <a:buNone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3471630-9EC8-4C68-B4D8-D98C242DBE0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3843" y="3362959"/>
            <a:ext cx="11102339" cy="2827459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FB3B490-399A-EF1F-9626-CCCE0F5FF3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167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9BDEB7A-D103-487A-8C1B-9145FB24B6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897" y="539496"/>
            <a:ext cx="5228393" cy="269719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sz="4800" dirty="0"/>
              <a:t>Click to add title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017A3E-25F7-41D5-AABB-24D0E2673A6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2897" y="3354749"/>
            <a:ext cx="5228392" cy="258247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5C0C26-4C66-47DC-B079-5B94C22F1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07E30B1-7066-9D31-7A11-7B81B65DD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72E672D-C862-C853-0730-15E3C4953D67}"/>
              </a:ext>
            </a:extLst>
          </p:cNvPr>
          <p:cNvSpPr/>
          <p:nvPr userDrawn="1"/>
        </p:nvSpPr>
        <p:spPr>
          <a:xfrm>
            <a:off x="9884230" y="1"/>
            <a:ext cx="1611954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10336ED-3DCB-4524-8A3F-9FBBD0B18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815F86B-1A6A-ECD5-F63A-4280BADEF7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9884230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5534F0-444E-1FA5-FC8F-F04505FC0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9768622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119972F-DA18-8749-FF59-A83CA1E1F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9372495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067D80A1-B7E7-2F80-975E-2E87C591BB67}"/>
              </a:ext>
            </a:extLst>
          </p:cNvPr>
          <p:cNvSpPr/>
          <p:nvPr userDrawn="1"/>
        </p:nvSpPr>
        <p:spPr>
          <a:xfrm>
            <a:off x="7760541" y="1"/>
            <a:ext cx="1611954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E88F6AB-6890-F7DE-7C01-CE237F7786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9481352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F6575E3-45E3-206E-9037-D8FD562B7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77605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BE4BC31-600E-ECD3-1E7F-FE4F6F720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7644933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Graphic 33">
            <a:extLst>
              <a:ext uri="{FF2B5EF4-FFF2-40B4-BE49-F238E27FC236}">
                <a16:creationId xmlns:a16="http://schemas.microsoft.com/office/drawing/2014/main" id="{3F8CA839-B327-1ECD-C35D-02164F5BBD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706" t="12194" r="49126" b="12256"/>
          <a:stretch/>
        </p:blipFill>
        <p:spPr>
          <a:xfrm>
            <a:off x="9884229" y="-5609"/>
            <a:ext cx="1611955" cy="6863608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E1A97957-D274-4D24-1862-D53BF72826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790" t="12194" r="70042" b="12256"/>
          <a:stretch/>
        </p:blipFill>
        <p:spPr>
          <a:xfrm>
            <a:off x="7753789" y="5610"/>
            <a:ext cx="1611955" cy="686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701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4B53B4F-080C-8523-03AD-871CC3B8D168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3B790B-70BD-FD52-2540-F1DA4882170E}"/>
              </a:ext>
            </a:extLst>
          </p:cNvPr>
          <p:cNvSpPr/>
          <p:nvPr/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 descr="Tag=AccentColor&#10;Flavor=Light&#10;Target=Line">
            <a:extLst>
              <a:ext uri="{FF2B5EF4-FFF2-40B4-BE49-F238E27FC236}">
                <a16:creationId xmlns:a16="http://schemas.microsoft.com/office/drawing/2014/main" id="{7D4FC5F0-CBD6-AEEB-4902-28D624068890}"/>
              </a:ext>
            </a:extLst>
          </p:cNvPr>
          <p:cNvCxnSpPr>
            <a:cxnSpLocks/>
          </p:cNvCxnSpPr>
          <p:nvPr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 descr="Tag=AccentColor&#10;Flavor=Light&#10;Target=Line">
            <a:extLst>
              <a:ext uri="{FF2B5EF4-FFF2-40B4-BE49-F238E27FC236}">
                <a16:creationId xmlns:a16="http://schemas.microsoft.com/office/drawing/2014/main" id="{FA9EB4DB-DDA5-1A45-7D87-B2BF67D2D1C3}"/>
              </a:ext>
            </a:extLst>
          </p:cNvPr>
          <p:cNvCxnSpPr>
            <a:cxnSpLocks/>
          </p:cNvCxnSpPr>
          <p:nvPr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AF870-601F-4570-A8A9-1003F893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CCECD-B6E7-4C40-8A84-65FD5A3F0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EFA4D-0E39-4E26-B43C-5D1084B3B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851EA-2F2C-4012-8B96-51179BDD1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B8ACB-7A60-4D76-A149-0C57A30E0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-18288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289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  <p:sldLayoutId id="2147483895" r:id="rId12"/>
    <p:sldLayoutId id="2147483896" r:id="rId13"/>
    <p:sldLayoutId id="2147483898" r:id="rId14"/>
    <p:sldLayoutId id="2147483899" r:id="rId15"/>
    <p:sldLayoutId id="2147483901" r:id="rId16"/>
    <p:sldLayoutId id="2147483902" r:id="rId17"/>
    <p:sldLayoutId id="2147483903" r:id="rId18"/>
    <p:sldLayoutId id="2147483907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2"/>
        </a:buClr>
        <a:buFont typeface="Wingdings 2" panose="05020102010507070707" pitchFamily="18" charset="2"/>
        <a:buChar char="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simp@peonyhc.nhs.net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hipaajournal.com/shields-health-care-data-breach-settlement/" TargetMode="External"/><Relationship Id="rId3" Type="http://schemas.openxmlformats.org/officeDocument/2006/relationships/hyperlink" Target="https://www.cdc.gov/phlp/php/resources/health-insurance-portability-and-accountability-act-of-1996-hipaa.html" TargetMode="External"/><Relationship Id="rId7" Type="http://schemas.openxmlformats.org/officeDocument/2006/relationships/hyperlink" Target="https://www.gov.uk/data-protection" TargetMode="External"/><Relationship Id="rId2" Type="http://schemas.openxmlformats.org/officeDocument/2006/relationships/hyperlink" Target="https://thedoctor.bma.org.uk/articles/health-society/cybersecurity-cracks-in-the-system/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dataguard.com/iso-27001/benefits/" TargetMode="External"/><Relationship Id="rId5" Type="http://schemas.openxmlformats.org/officeDocument/2006/relationships/hyperlink" Target="https://www.cyberday.ai/blog/best-practices-and-common-challenges-of-isms-implementation" TargetMode="External"/><Relationship Id="rId4" Type="http://schemas.openxmlformats.org/officeDocument/2006/relationships/hyperlink" Target="https://coverlink.com/cyber-liability-insurance/cyber-case-study-change-healthcare-cyberattack/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uv-nord.com/uk/en/common-challenges-in-implementing-iso-27001-and-how-to-overcome-them/" TargetMode="External"/><Relationship Id="rId3" Type="http://schemas.openxmlformats.org/officeDocument/2006/relationships/hyperlink" Target="https://www.iso.org/standard/27001" TargetMode="External"/><Relationship Id="rId7" Type="http://schemas.openxmlformats.org/officeDocument/2006/relationships/hyperlink" Target="https://www.rubrik.com/insights/healthcare-cybersecurity-challenges-threats-2025" TargetMode="External"/><Relationship Id="rId2" Type="http://schemas.openxmlformats.org/officeDocument/2006/relationships/hyperlink" Target="https://www.isms.online/iso-27001/iso-27001-implementation-4-key-challenges-how-to-overcome-them/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omnicybersecurity.com/cybersecurity-services/pci-dss-get-your-quote/?utm_term=pci%20security%20standards&amp;utm_campaign=PCI&amp;utm_source=adwords&amp;utm_medium=ppc&amp;hsa_acc=4926433472&amp;hsa_cam=22180601270&amp;hsa_grp=189600267756&amp;hsa_ad=786653023430&amp;hsa_src=g&amp;hsa_tgt=kwd-1834754351&amp;hsa_kw=pci%20security%20standards&amp;hsa_mt=e&amp;hsa_net=adwords&amp;hsa_ver=3&amp;gad_source=1&amp;gad_campaignid=22180601270&amp;gbraid=0AAAAACvITjo4r6x9KX-GGY6hCTlB8R2mZ&amp;gclid=Cj0KCQjwgr_NBhDFARIsAHiUWr7N5IM-gfEj7ZufNplL88ztXRpdYzWRTVPa4nLMGjLhJQQk0rY_jGEaAif9EALw_wcB" TargetMode="External"/><Relationship Id="rId5" Type="http://schemas.openxmlformats.org/officeDocument/2006/relationships/hyperlink" Target="https://www.england.nhs.uk/digitaltechnology/nhs-federated-data-platform/security-privacy/" TargetMode="External"/><Relationship Id="rId4" Type="http://schemas.openxmlformats.org/officeDocument/2006/relationships/hyperlink" Target="https://www.nao.org.uk/wp-content/uploads/2017/10/Investigation-WannaCry-cyber-attack-and-the-NHS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2107B0-826E-4E2E-390A-A0CBF1F86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3019" y="697882"/>
            <a:ext cx="10094022" cy="1606907"/>
          </a:xfrm>
        </p:spPr>
        <p:txBody>
          <a:bodyPr/>
          <a:lstStyle/>
          <a:p>
            <a:r>
              <a:rPr lang="en-US" sz="7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OneWorld Prosthetics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D5B049-6BC3-DD32-1340-1D9F1E7EA05C}"/>
              </a:ext>
            </a:extLst>
          </p:cNvPr>
          <p:cNvSpPr txBox="1"/>
          <p:nvPr/>
        </p:nvSpPr>
        <p:spPr>
          <a:xfrm>
            <a:off x="1409476" y="2040699"/>
            <a:ext cx="101836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000" spc="300" dirty="0">
                <a:solidFill>
                  <a:schemeClr val="accent3">
                    <a:lumMod val="50000"/>
                  </a:schemeClr>
                </a:solidFill>
              </a:rPr>
              <a:t>Information security Management System proposal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4BD211-5BF9-E72B-25C3-6B4A16EF5DCF}"/>
              </a:ext>
            </a:extLst>
          </p:cNvPr>
          <p:cNvSpPr txBox="1"/>
          <p:nvPr/>
        </p:nvSpPr>
        <p:spPr>
          <a:xfrm>
            <a:off x="1390604" y="3835601"/>
            <a:ext cx="10167770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GB" sz="2400" dirty="0"/>
              <a:t>Module Name: </a:t>
            </a:r>
            <a:r>
              <a:rPr lang="en-GB" sz="2400" dirty="0">
                <a:ea typeface="+mn-lt"/>
                <a:cs typeface="+mn-lt"/>
              </a:rPr>
              <a:t>UFCFRB-15-3 - Security management in practice</a:t>
            </a:r>
            <a:endParaRPr lang="en-US"/>
          </a:p>
          <a:p>
            <a:pPr algn="ctr"/>
            <a:r>
              <a:rPr lang="en-GB" sz="2400" dirty="0"/>
              <a:t>Student Names and Numbers:</a:t>
            </a:r>
          </a:p>
          <a:p>
            <a:pPr algn="ctr"/>
            <a:r>
              <a:rPr lang="en-GB" sz="2400" dirty="0"/>
              <a:t>Avleen Kaur Sidhu - 20049489</a:t>
            </a:r>
          </a:p>
          <a:p>
            <a:pPr algn="ctr"/>
            <a:r>
              <a:rPr lang="en-GB" sz="2400" dirty="0"/>
              <a:t>Joe Coleman - 25026245</a:t>
            </a:r>
          </a:p>
          <a:p>
            <a:pPr algn="ctr"/>
            <a:r>
              <a:rPr lang="en-GB" sz="2400" dirty="0"/>
              <a:t>Sam Fussell- 25033324</a:t>
            </a:r>
          </a:p>
        </p:txBody>
      </p:sp>
    </p:spTree>
    <p:extLst>
      <p:ext uri="{BB962C8B-B14F-4D97-AF65-F5344CB8AC3E}">
        <p14:creationId xmlns:p14="http://schemas.microsoft.com/office/powerpoint/2010/main" val="3885810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689D8-CDAC-4215-96CD-8548432CE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544" y="685800"/>
            <a:ext cx="9735575" cy="1325563"/>
          </a:xfrm>
        </p:spPr>
        <p:txBody>
          <a:bodyPr>
            <a:normAutofit/>
          </a:bodyPr>
          <a:lstStyle/>
          <a:p>
            <a:r>
              <a:rPr lang="en-US" sz="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0502F-36D4-4E60-B6E9-08628B2C5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5544" y="2079321"/>
            <a:ext cx="4872626" cy="4092879"/>
          </a:xfrm>
        </p:spPr>
        <p:txBody>
          <a:bodyPr>
            <a:normAutofit/>
          </a:bodyPr>
          <a:lstStyle/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</a:rPr>
              <a:t>Our organization and goals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</a:rPr>
              <a:t>Roles within the organization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</a:rPr>
              <a:t>Our company’s assets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</a:rPr>
              <a:t>Vulnerabilities and Threats (a mini risk assessment)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</a:rPr>
              <a:t>What is the potential impact of these risks?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</a:rPr>
              <a:t>Case studies and what we can learn from them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86A23B90-D6E2-D980-7780-B6FC54FD8D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E0FD4B5-4088-0CC7-E6CC-DEA779045EB0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BE30544-9915-2C98-51BF-21A0DF1A5597}"/>
              </a:ext>
            </a:extLst>
          </p:cNvPr>
          <p:cNvSpPr txBox="1">
            <a:spLocks/>
          </p:cNvSpPr>
          <p:nvPr/>
        </p:nvSpPr>
        <p:spPr>
          <a:xfrm>
            <a:off x="6973426" y="2079322"/>
            <a:ext cx="4529726" cy="305635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2"/>
              </a:buClr>
              <a:buFont typeface="Wingdings 2" panose="05020102010507070707" pitchFamily="18" charset="2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2"/>
              </a:buClr>
              <a:buFont typeface="Wingdings 2" panose="05020102010507070707" pitchFamily="18" charset="2"/>
              <a:buChar char="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</a:rPr>
              <a:t>Which ISMS frame-work do we recommend? 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</a:rPr>
              <a:t>Regulations that apply to us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</a:rPr>
              <a:t>Key challenges we face with this proposal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</a:rPr>
              <a:t>Solutions to these challenges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76309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BAD7B4-5997-4A95-A2A9-773DF1F4C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144" y="2416365"/>
            <a:ext cx="9519649" cy="2025270"/>
          </a:xfrm>
        </p:spPr>
        <p:txBody>
          <a:bodyPr/>
          <a:lstStyle/>
          <a:p>
            <a:r>
              <a:rPr lang="en-US" sz="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Our</a:t>
            </a:r>
            <a:r>
              <a:rPr lang="en-US" sz="5000" dirty="0"/>
              <a:t> </a:t>
            </a:r>
            <a:r>
              <a:rPr lang="en-US" sz="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organization and goals</a:t>
            </a:r>
            <a:r>
              <a:rPr lang="en-US" sz="50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045600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91794-986C-4679-93EA-5F3C3EE6C8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559" y="776679"/>
            <a:ext cx="4900664" cy="2104308"/>
          </a:xfrm>
        </p:spPr>
        <p:txBody>
          <a:bodyPr>
            <a:normAutofit/>
          </a:bodyPr>
          <a:lstStyle/>
          <a:p>
            <a:r>
              <a:rPr lang="en-US" sz="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Roles within the organization </a:t>
            </a: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253F77DE-9A00-003D-3E35-AA011DA6A2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06200" y="0"/>
            <a:ext cx="685800" cy="685800"/>
          </a:xfrm>
        </p:spPr>
        <p:txBody>
          <a:bodyPr/>
          <a:lstStyle/>
          <a:p>
            <a:fld id="{3A4F6043-7A67-491B-98BC-F933DED7226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AD73156-2390-BB42-48B5-818ECA165475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26" name="Picture 2" descr="How to Be a Strong Team Member (Even Non-extroverts) | Winds of Change">
            <a:extLst>
              <a:ext uri="{FF2B5EF4-FFF2-40B4-BE49-F238E27FC236}">
                <a16:creationId xmlns:a16="http://schemas.microsoft.com/office/drawing/2014/main" id="{A1AD5270-2935-91E4-5CD8-F189D5EC1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340" y="3064115"/>
            <a:ext cx="4107102" cy="2784953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5628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F40441-D6E5-9B89-9520-9D293FA8D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24EBA-A2D4-8B11-2C7C-339FEA22FA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9512" y="884128"/>
            <a:ext cx="4725923" cy="2021910"/>
          </a:xfrm>
        </p:spPr>
        <p:txBody>
          <a:bodyPr>
            <a:normAutofit/>
          </a:bodyPr>
          <a:lstStyle/>
          <a:p>
            <a:r>
              <a:rPr lang="en-US" sz="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Our company's assets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A910D-3AEA-5CA5-8299-4E5AE5968F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10132" y="828740"/>
            <a:ext cx="4725923" cy="5346591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ln w="0"/>
                <a:solidFill>
                  <a:sysClr val="windowText" lastClr="0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Patient data (dates of birth, emails, phone, addresses, insurance information)</a:t>
            </a:r>
          </a:p>
          <a:p>
            <a:pPr marL="285750" indent="-285750">
              <a:buFontTx/>
              <a:buChar char="-"/>
            </a:pPr>
            <a:r>
              <a:rPr lang="en-US" dirty="0">
                <a:ln w="0"/>
                <a:solidFill>
                  <a:sysClr val="windowText" lastClr="0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Staff data (logins etc.)</a:t>
            </a:r>
          </a:p>
          <a:p>
            <a:pPr marL="285750" indent="-285750">
              <a:buFontTx/>
              <a:buChar char="-"/>
            </a:pPr>
            <a:r>
              <a:rPr lang="en-US" dirty="0">
                <a:ln w="0"/>
                <a:solidFill>
                  <a:sysClr val="windowText" lastClr="0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Financial donor data </a:t>
            </a:r>
          </a:p>
          <a:p>
            <a:pPr marL="285750" indent="-285750">
              <a:buFontTx/>
              <a:buChar char="-"/>
            </a:pPr>
            <a:r>
              <a:rPr lang="en-US" dirty="0">
                <a:ln w="0"/>
                <a:solidFill>
                  <a:sysClr val="windowText" lastClr="0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Electrical/mechanical equipment</a:t>
            </a:r>
          </a:p>
          <a:p>
            <a:pPr marL="285750" indent="-285750">
              <a:buFontTx/>
              <a:buChar char="-"/>
            </a:pPr>
            <a:r>
              <a:rPr lang="en-US" dirty="0">
                <a:ln w="0"/>
                <a:solidFill>
                  <a:sysClr val="windowText" lastClr="0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Financial and billing data </a:t>
            </a:r>
          </a:p>
          <a:p>
            <a:pPr marL="285750" indent="-285750">
              <a:buFontTx/>
              <a:buChar char="-"/>
            </a:pPr>
            <a:r>
              <a:rPr lang="en-US" dirty="0">
                <a:ln w="0"/>
                <a:solidFill>
                  <a:sysClr val="windowText" lastClr="0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Databases </a:t>
            </a:r>
          </a:p>
          <a:p>
            <a:pPr marL="285750" indent="-285750">
              <a:buFontTx/>
              <a:buChar char="-"/>
            </a:pPr>
            <a:r>
              <a:rPr lang="en-US" dirty="0">
                <a:ln w="0"/>
                <a:solidFill>
                  <a:sysClr val="windowText" lastClr="0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Medical IoT devices </a:t>
            </a:r>
          </a:p>
          <a:p>
            <a:pPr marL="285750" indent="-285750">
              <a:buFontTx/>
              <a:buChar char="-"/>
            </a:pPr>
            <a:r>
              <a:rPr lang="en-US" dirty="0">
                <a:ln w="0"/>
                <a:solidFill>
                  <a:sysClr val="windowText" lastClr="0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Workstations and mobile devices 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00155C84-A9DD-4CE5-DEA2-D5D3922D1F3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06200" y="0"/>
            <a:ext cx="685800" cy="685800"/>
          </a:xfrm>
        </p:spPr>
        <p:txBody>
          <a:bodyPr/>
          <a:lstStyle/>
          <a:p>
            <a:fld id="{3A4F6043-7A67-491B-98BC-F933DED7226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9AF03E8-F44A-67D9-73D9-E6D776F4254E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2050" name="Picture 2" descr="How Asset Management Systems Enhance Medical Supplies">
            <a:extLst>
              <a:ext uri="{FF2B5EF4-FFF2-40B4-BE49-F238E27FC236}">
                <a16:creationId xmlns:a16="http://schemas.microsoft.com/office/drawing/2014/main" id="{FB821A83-25AB-3E20-E45C-BCD0FAEFE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898" y="3429000"/>
            <a:ext cx="4885150" cy="209908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01332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15832-3B88-48CF-8043-95E6A4907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6786" y="645090"/>
            <a:ext cx="10660350" cy="1744249"/>
          </a:xfrm>
        </p:spPr>
        <p:txBody>
          <a:bodyPr>
            <a:noAutofit/>
          </a:bodyPr>
          <a:lstStyle/>
          <a:p>
            <a:r>
              <a:rPr lang="en-US" sz="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Vulnerabilities and Threats (a mini risk assessment)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EC64CEEC-83BF-60C7-B00E-F2DE1BC02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08EEC470-A4D9-8C02-9D52-3B70BC34DA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6551355"/>
              </p:ext>
            </p:extLst>
          </p:nvPr>
        </p:nvGraphicFramePr>
        <p:xfrm>
          <a:off x="4616634" y="1728593"/>
          <a:ext cx="4702730" cy="44843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97687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4FCDD3-7D39-D05B-C7EC-F7FEEB4C6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2818B-F80A-43B7-F536-7FF00EC32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260" y="685800"/>
            <a:ext cx="10660350" cy="1325563"/>
          </a:xfrm>
        </p:spPr>
        <p:txBody>
          <a:bodyPr>
            <a:noAutofit/>
          </a:bodyPr>
          <a:lstStyle/>
          <a:p>
            <a:r>
              <a:rPr lang="en-US" sz="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What is the potential impact of these risks?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446D63D3-3ED7-1ACD-8870-F9762F396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B94933C0-5383-5B29-7D34-E9DBA3A47E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0553099"/>
              </p:ext>
            </p:extLst>
          </p:nvPr>
        </p:nvGraphicFramePr>
        <p:xfrm>
          <a:off x="3626369" y="2179529"/>
          <a:ext cx="5968568" cy="37688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1363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5E789A05-76D0-47F6-AD3C-AF905732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709375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C9D62F4B-698C-4A3E-B150-8D32AEC26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033D699-F972-442A-9111-79DD65A42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8CB0E37-DA39-43FD-AA53-B5F23D898D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523" y="-5610"/>
            <a:ext cx="692763" cy="699899"/>
          </a:xfrm>
          <a:prstGeom prst="rect">
            <a:avLst/>
          </a:prstGeom>
          <a:solidFill>
            <a:schemeClr val="accent1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6C4A765-D564-4CAD-8AAD-184C71DAE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585544-C200-BEF3-61CE-CCB5EE891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288" y="540167"/>
            <a:ext cx="9520113" cy="141562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800">
                <a:solidFill>
                  <a:schemeClr val="tx1"/>
                </a:solidFill>
              </a:rPr>
              <a:t>Case studies and what we can learn from them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9E4A32E4-179C-6FC0-8A0F-65F163803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4676" y="-14198"/>
            <a:ext cx="685800" cy="685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A4F6043-7A67-491B-98BC-F933DED7226D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37" name="Graphic 36" descr="Hospital">
            <a:extLst>
              <a:ext uri="{FF2B5EF4-FFF2-40B4-BE49-F238E27FC236}">
                <a16:creationId xmlns:a16="http://schemas.microsoft.com/office/drawing/2014/main" id="{20D7E89A-7C69-BC79-CAB9-8AA766EEFA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9672" y="1189757"/>
            <a:ext cx="5031557" cy="5031557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B6674E2-4D0A-99C2-48AC-327B1B97288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373483" y="2671685"/>
            <a:ext cx="4816589" cy="30954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ts val="2800"/>
              </a:lnSpc>
              <a:buFont typeface="Wingdings 2" panose="05020102010507070707" pitchFamily="18" charset="2"/>
              <a:buChar char=""/>
            </a:pPr>
            <a:r>
              <a:rPr lang="en-US" sz="2400">
                <a:solidFill>
                  <a:schemeClr val="tx1"/>
                </a:solidFill>
              </a:rPr>
              <a:t>WannaCry (2017)</a:t>
            </a:r>
          </a:p>
          <a:p>
            <a:pPr indent="-228600">
              <a:lnSpc>
                <a:spcPts val="2800"/>
              </a:lnSpc>
              <a:buFont typeface="Wingdings 2" panose="05020102010507070707" pitchFamily="18" charset="2"/>
              <a:buChar char=""/>
            </a:pPr>
            <a:r>
              <a:rPr lang="en-US" sz="2400">
                <a:solidFill>
                  <a:schemeClr val="tx1"/>
                </a:solidFill>
              </a:rPr>
              <a:t>Shields Healthcare Group (2022)</a:t>
            </a:r>
          </a:p>
          <a:p>
            <a:pPr indent="-228600">
              <a:lnSpc>
                <a:spcPts val="2800"/>
              </a:lnSpc>
              <a:buFont typeface="Wingdings 2" panose="05020102010507070707" pitchFamily="18" charset="2"/>
              <a:buChar char=""/>
            </a:pPr>
            <a:r>
              <a:rPr lang="en-US" sz="2400">
                <a:solidFill>
                  <a:schemeClr val="tx1"/>
                </a:solidFill>
              </a:rPr>
              <a:t>Change Healthcare (2024)</a:t>
            </a:r>
          </a:p>
          <a:p>
            <a:pPr indent="-228600">
              <a:lnSpc>
                <a:spcPts val="2800"/>
              </a:lnSpc>
              <a:buFont typeface="Wingdings 2" panose="05020102010507070707" pitchFamily="18" charset="2"/>
              <a:buChar char=""/>
            </a:pPr>
            <a:r>
              <a:rPr lang="en-US" sz="2400">
                <a:solidFill>
                  <a:schemeClr val="tx1"/>
                </a:solidFill>
              </a:rPr>
              <a:t>Universal Health Services (2020)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A28B1DC-0672-4B37-99C8-1A33D3D31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FDB89D3-7786-4CAE-BB16-92D36C825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7369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BDD3376-2BB5-D208-489F-2CF4AEDE5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941" y="685800"/>
            <a:ext cx="10778937" cy="1325563"/>
          </a:xfrm>
        </p:spPr>
        <p:txBody>
          <a:bodyPr>
            <a:noAutofit/>
          </a:bodyPr>
          <a:lstStyle/>
          <a:p>
            <a:r>
              <a:rPr lang="en-US" sz="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Which isms framework do we recommend?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AF6A16-152C-E775-CA6F-42308B458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8536" y="4618973"/>
            <a:ext cx="2671752" cy="1490597"/>
          </a:xfrm>
        </p:spPr>
        <p:txBody>
          <a:bodyPr>
            <a:normAutofit/>
          </a:bodyPr>
          <a:lstStyle/>
          <a:p>
            <a:pPr marL="0" indent="0"/>
            <a:r>
              <a:rPr lang="en-GB" sz="2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-clear, organised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99A3C9AE-6440-E266-03D1-504E4CB48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649B05-2F64-D220-18E9-E64E3E432BDC}"/>
              </a:ext>
            </a:extLst>
          </p:cNvPr>
          <p:cNvSpPr txBox="1"/>
          <p:nvPr/>
        </p:nvSpPr>
        <p:spPr>
          <a:xfrm>
            <a:off x="4437345" y="3577442"/>
            <a:ext cx="414298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ISO/IEC 27001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CC37AD-8DCC-863D-2D52-A57CCFE58E25}"/>
              </a:ext>
            </a:extLst>
          </p:cNvPr>
          <p:cNvSpPr txBox="1"/>
          <p:nvPr/>
        </p:nvSpPr>
        <p:spPr>
          <a:xfrm>
            <a:off x="8431144" y="2713419"/>
            <a:ext cx="202808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</a:t>
            </a:r>
            <a:r>
              <a:rPr lang="en-GB" sz="25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en-GB" sz="2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depth</a:t>
            </a:r>
            <a:endParaRPr lang="en-GB" sz="25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8B5C6B-1D34-38E4-F841-06C297F0EF95}"/>
              </a:ext>
            </a:extLst>
          </p:cNvPr>
          <p:cNvSpPr txBox="1"/>
          <p:nvPr/>
        </p:nvSpPr>
        <p:spPr>
          <a:xfrm>
            <a:off x="1511941" y="2557280"/>
            <a:ext cx="614401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Improved incident response times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25B891-BAF0-68CF-BE7A-E4554A5C7F9E}"/>
              </a:ext>
            </a:extLst>
          </p:cNvPr>
          <p:cNvSpPr txBox="1"/>
          <p:nvPr/>
        </p:nvSpPr>
        <p:spPr>
          <a:xfrm>
            <a:off x="7397747" y="4853835"/>
            <a:ext cx="3061486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Shows our stakeholders we’re prepared!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5D17379-DE64-9268-8499-4C11F6F1D784}"/>
              </a:ext>
            </a:extLst>
          </p:cNvPr>
          <p:cNvCxnSpPr>
            <a:stCxn id="10" idx="2"/>
            <a:endCxn id="5" idx="0"/>
          </p:cNvCxnSpPr>
          <p:nvPr/>
        </p:nvCxnSpPr>
        <p:spPr>
          <a:xfrm>
            <a:off x="4583949" y="3034334"/>
            <a:ext cx="1924888" cy="543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D67D7C-B916-DB2F-A2A8-B11340F70479}"/>
              </a:ext>
            </a:extLst>
          </p:cNvPr>
          <p:cNvCxnSpPr>
            <a:cxnSpLocks/>
            <a:stCxn id="12" idx="0"/>
            <a:endCxn id="5" idx="2"/>
          </p:cNvCxnSpPr>
          <p:nvPr/>
        </p:nvCxnSpPr>
        <p:spPr>
          <a:xfrm flipH="1" flipV="1">
            <a:off x="6508837" y="4439216"/>
            <a:ext cx="2419653" cy="414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C96D59B-FAC3-A442-EF1F-B93640AE87E8}"/>
              </a:ext>
            </a:extLst>
          </p:cNvPr>
          <p:cNvCxnSpPr>
            <a:cxnSpLocks/>
            <a:stCxn id="2" idx="0"/>
            <a:endCxn id="5" idx="1"/>
          </p:cNvCxnSpPr>
          <p:nvPr/>
        </p:nvCxnSpPr>
        <p:spPr>
          <a:xfrm flipV="1">
            <a:off x="3314412" y="4008329"/>
            <a:ext cx="1122933" cy="610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A251BEE-89EA-CFA9-ABAE-4D49A5A86159}"/>
              </a:ext>
            </a:extLst>
          </p:cNvPr>
          <p:cNvCxnSpPr>
            <a:cxnSpLocks/>
            <a:stCxn id="8" idx="2"/>
            <a:endCxn id="5" idx="3"/>
          </p:cNvCxnSpPr>
          <p:nvPr/>
        </p:nvCxnSpPr>
        <p:spPr>
          <a:xfrm flipH="1">
            <a:off x="8580329" y="3190473"/>
            <a:ext cx="864860" cy="817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6044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DD0F83-2148-6DA1-0EDA-6254FB653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97AEFC5-828D-3640-816C-75A25B7BC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46" y="685800"/>
            <a:ext cx="10778937" cy="1325563"/>
          </a:xfrm>
        </p:spPr>
        <p:txBody>
          <a:bodyPr>
            <a:normAutofit/>
          </a:bodyPr>
          <a:lstStyle/>
          <a:p>
            <a:r>
              <a:rPr lang="en-US" sz="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Regulations that apply to us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F74F81-4F73-9DBB-DF0C-9E6C3D25B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2046" y="2350108"/>
            <a:ext cx="9639074" cy="3609461"/>
          </a:xfrm>
        </p:spPr>
        <p:txBody>
          <a:bodyPr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342900" indent="-342900">
              <a:buFontTx/>
              <a:buChar char="-"/>
            </a:pPr>
            <a:r>
              <a:rPr lang="en-GB" sz="2500" b="1" dirty="0">
                <a:ln/>
              </a:rPr>
              <a:t>General Data Protection Regulation (GDPR)</a:t>
            </a:r>
          </a:p>
          <a:p>
            <a:pPr marL="0" indent="0"/>
            <a:endParaRPr lang="en-GB" sz="2500" b="1" dirty="0">
              <a:ln/>
            </a:endParaRPr>
          </a:p>
          <a:p>
            <a:pPr marL="342900" indent="-342900">
              <a:buFontTx/>
              <a:buChar char="-"/>
            </a:pPr>
            <a:r>
              <a:rPr lang="en-GB" sz="2500" b="1" dirty="0">
                <a:ln/>
              </a:rPr>
              <a:t>NHS data security and privacy requirements + MHRA</a:t>
            </a:r>
          </a:p>
          <a:p>
            <a:pPr marL="0" indent="0"/>
            <a:endParaRPr lang="en-GB" sz="2500" b="1" dirty="0">
              <a:ln/>
            </a:endParaRPr>
          </a:p>
          <a:p>
            <a:pPr marL="342900" indent="-342900">
              <a:buFontTx/>
              <a:buChar char="-"/>
            </a:pPr>
            <a:r>
              <a:rPr lang="en-GB" sz="2500" b="1" dirty="0">
                <a:ln/>
              </a:rPr>
              <a:t>PCI DSS</a:t>
            </a:r>
          </a:p>
          <a:p>
            <a:pPr marL="0" indent="0"/>
            <a:endParaRPr lang="en-GB" sz="2500" b="1" dirty="0">
              <a:ln/>
            </a:endParaRPr>
          </a:p>
          <a:p>
            <a:pPr marL="342900" indent="-342900">
              <a:buFontTx/>
              <a:buChar char="-"/>
            </a:pPr>
            <a:r>
              <a:rPr lang="en-GB" sz="2500" b="1" dirty="0">
                <a:ln/>
              </a:rPr>
              <a:t>HIPPA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90985D57-742B-68DE-C9AD-97A826CED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865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AEEFD7-B062-32E9-A37A-3606CDE90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D0E84CA-C322-2B7E-58D0-CCB357BFD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932" y="1115168"/>
            <a:ext cx="9127826" cy="2125338"/>
          </a:xfrm>
        </p:spPr>
        <p:txBody>
          <a:bodyPr/>
          <a:lstStyle/>
          <a:p>
            <a:r>
              <a:rPr lang="en-US" sz="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Key challenges we face with this ISMS proposal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9F1BD912-42FB-F059-89F3-77E44DAEDE4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06200" y="0"/>
            <a:ext cx="685800" cy="685800"/>
          </a:xfrm>
        </p:spPr>
        <p:txBody>
          <a:bodyPr/>
          <a:lstStyle/>
          <a:p>
            <a:fld id="{3A4F6043-7A67-491B-98BC-F933DED7226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FF349F-632B-3785-0D79-C7A46CD53B4F}"/>
              </a:ext>
            </a:extLst>
          </p:cNvPr>
          <p:cNvSpPr txBox="1"/>
          <p:nvPr/>
        </p:nvSpPr>
        <p:spPr>
          <a:xfrm>
            <a:off x="1683107" y="3186608"/>
            <a:ext cx="4044765" cy="86177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5000" dirty="0"/>
              <a:t>Financial costs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2E9910-088C-ECE8-844F-A3BDBCAF3341}"/>
              </a:ext>
            </a:extLst>
          </p:cNvPr>
          <p:cNvSpPr txBox="1"/>
          <p:nvPr/>
        </p:nvSpPr>
        <p:spPr>
          <a:xfrm>
            <a:off x="3705490" y="4730163"/>
            <a:ext cx="5374709" cy="86177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5000" dirty="0"/>
              <a:t>Resource limitations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CC16C6-614C-20A4-D5C3-74B02A680F14}"/>
              </a:ext>
            </a:extLst>
          </p:cNvPr>
          <p:cNvSpPr txBox="1"/>
          <p:nvPr/>
        </p:nvSpPr>
        <p:spPr>
          <a:xfrm>
            <a:off x="6993517" y="3186608"/>
            <a:ext cx="4173364" cy="86177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5000" dirty="0"/>
              <a:t>User adoption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285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B927BB-D809-5E31-8474-019195A67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3AE7975-6327-B3C1-8918-200ECC941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521" y="756672"/>
            <a:ext cx="10208580" cy="1531780"/>
          </a:xfrm>
        </p:spPr>
        <p:txBody>
          <a:bodyPr/>
          <a:lstStyle/>
          <a:p>
            <a:r>
              <a:rPr lang="en-US" sz="5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Solutions to these challenges 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7B263C9F-C50F-6111-1634-00F0DBFC1EB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06200" y="0"/>
            <a:ext cx="685800" cy="685800"/>
          </a:xfrm>
        </p:spPr>
        <p:txBody>
          <a:bodyPr/>
          <a:lstStyle/>
          <a:p>
            <a:fld id="{3A4F6043-7A67-491B-98BC-F933DED7226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D15773-2E9B-8BA3-4BF7-0AE8893BD4C8}"/>
              </a:ext>
            </a:extLst>
          </p:cNvPr>
          <p:cNvSpPr txBox="1"/>
          <p:nvPr/>
        </p:nvSpPr>
        <p:spPr>
          <a:xfrm>
            <a:off x="2227742" y="2286554"/>
            <a:ext cx="8534136" cy="86177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5000" dirty="0"/>
              <a:t>Phased implementation approach 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BBCB54-E061-F91B-C8B8-0B8420E1DEBF}"/>
              </a:ext>
            </a:extLst>
          </p:cNvPr>
          <p:cNvSpPr txBox="1"/>
          <p:nvPr/>
        </p:nvSpPr>
        <p:spPr>
          <a:xfrm>
            <a:off x="2866959" y="3700424"/>
            <a:ext cx="7255701" cy="86177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5000" dirty="0"/>
              <a:t>Staff awareness and training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5AA949-8E9B-2CD6-C80F-080F40181F73}"/>
              </a:ext>
            </a:extLst>
          </p:cNvPr>
          <p:cNvSpPr txBox="1"/>
          <p:nvPr/>
        </p:nvSpPr>
        <p:spPr>
          <a:xfrm>
            <a:off x="3441591" y="5114294"/>
            <a:ext cx="6106438" cy="86177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5000" dirty="0"/>
              <a:t>Strong leadership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158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F1F15-46F5-4A2B-AF38-34F3B8027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5083" y="654215"/>
            <a:ext cx="5228393" cy="2697190"/>
          </a:xfrm>
        </p:spPr>
        <p:txBody>
          <a:bodyPr>
            <a:normAutofit/>
          </a:bodyPr>
          <a:lstStyle/>
          <a:p>
            <a:r>
              <a:rPr lang="en-US" sz="7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A4C54-B3B2-4B02-A340-C72E57FEE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5084" y="3621315"/>
            <a:ext cx="5228392" cy="258247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OneWorld Prosthetics Security Information Management Team</a:t>
            </a:r>
          </a:p>
          <a:p>
            <a:r>
              <a:rPr lang="en-US" sz="2000">
                <a:solidFill>
                  <a:schemeClr val="accent3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smip@oneworldpro.org.net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</a:rPr>
              <a:t> </a:t>
            </a:r>
          </a:p>
          <a:p>
            <a:r>
              <a:rPr lang="en-US" sz="2000" dirty="0">
                <a:solidFill>
                  <a:schemeClr val="accent3">
                    <a:lumMod val="50000"/>
                  </a:schemeClr>
                </a:solidFill>
              </a:rPr>
              <a:t>01981 250 201 </a:t>
            </a:r>
          </a:p>
        </p:txBody>
      </p:sp>
    </p:spTree>
    <p:extLst>
      <p:ext uri="{BB962C8B-B14F-4D97-AF65-F5344CB8AC3E}">
        <p14:creationId xmlns:p14="http://schemas.microsoft.com/office/powerpoint/2010/main" val="1315345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A2A73-8937-4EE9-EBC2-0AFB2EA02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147" y="731038"/>
            <a:ext cx="7139705" cy="1214674"/>
          </a:xfrm>
        </p:spPr>
        <p:txBody>
          <a:bodyPr/>
          <a:lstStyle/>
          <a:p>
            <a:r>
              <a:rPr lang="en-GB" sz="7500" dirty="0"/>
              <a:t>References</a:t>
            </a:r>
            <a:br>
              <a:rPr lang="en-GB" dirty="0"/>
            </a:br>
            <a:endParaRPr lang="en-GB" sz="2000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910CA0-D730-6EE2-7267-9242AFDBCCCA}"/>
              </a:ext>
            </a:extLst>
          </p:cNvPr>
          <p:cNvSpPr txBox="1"/>
          <p:nvPr/>
        </p:nvSpPr>
        <p:spPr>
          <a:xfrm>
            <a:off x="670143" y="1382040"/>
            <a:ext cx="10208711" cy="47397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1400" dirty="0"/>
              <a:t>BMA (2024) </a:t>
            </a:r>
            <a:r>
              <a:rPr lang="en-GB" sz="1400" i="1" dirty="0"/>
              <a:t>Cybersecurity: cracks in the system</a:t>
            </a:r>
            <a:r>
              <a:rPr lang="en-GB" sz="1400" dirty="0"/>
              <a:t>. </a:t>
            </a:r>
            <a:r>
              <a:rPr lang="en-GB" sz="1400" b="1" dirty="0"/>
              <a:t>[online] </a:t>
            </a:r>
            <a:endParaRPr lang="en-GB" sz="1400" dirty="0"/>
          </a:p>
          <a:p>
            <a:r>
              <a:rPr lang="en-GB" sz="1400" dirty="0"/>
              <a:t>Available at: </a:t>
            </a:r>
            <a:r>
              <a:rPr lang="en-GB" sz="1400" u="sng" dirty="0">
                <a:hlinkClick r:id="rId2"/>
              </a:rPr>
              <a:t>https://thedoctor.bma.org.uk/articles/health-society/cybersecurity-cracks-in-the-system/</a:t>
            </a:r>
            <a:r>
              <a:rPr lang="en-GB" sz="1400" dirty="0"/>
              <a:t> </a:t>
            </a:r>
          </a:p>
          <a:p>
            <a:r>
              <a:rPr lang="en-GB" sz="1400" dirty="0"/>
              <a:t>(Last accessed: 10/03/2026).</a:t>
            </a:r>
          </a:p>
          <a:p>
            <a:r>
              <a:rPr lang="en-GB" sz="1400" dirty="0"/>
              <a:t>CDC (2024) </a:t>
            </a:r>
            <a:r>
              <a:rPr lang="en-GB" sz="1400" i="1" dirty="0"/>
              <a:t>Health Insurance Portability and Accountability Act of 1996 (HIPAA)</a:t>
            </a:r>
            <a:r>
              <a:rPr lang="en-GB" sz="1400" dirty="0"/>
              <a:t>. [online] Available at: </a:t>
            </a:r>
            <a:r>
              <a:rPr lang="en-GB" sz="1400" u="sng" dirty="0">
                <a:hlinkClick r:id="rId3"/>
              </a:rPr>
              <a:t>https://www.cdc.gov/phlp/php/resources/health-insurance-portability-and-accountability-act-of-1996-hipaa.html</a:t>
            </a:r>
            <a:r>
              <a:rPr lang="en-GB" sz="1400" dirty="0"/>
              <a:t> </a:t>
            </a:r>
          </a:p>
          <a:p>
            <a:r>
              <a:rPr lang="en-GB" sz="1400" dirty="0"/>
              <a:t>(Last accessed: 10/03/2026).</a:t>
            </a:r>
          </a:p>
          <a:p>
            <a:r>
              <a:rPr lang="en-GB" sz="1400" dirty="0" err="1"/>
              <a:t>CoverLink</a:t>
            </a:r>
            <a:r>
              <a:rPr lang="en-GB" sz="1400" dirty="0"/>
              <a:t> (2024) </a:t>
            </a:r>
            <a:r>
              <a:rPr lang="en-GB" sz="1400" i="1" dirty="0"/>
              <a:t>Cyber case study: Change Healthcare cyberattack</a:t>
            </a:r>
            <a:r>
              <a:rPr lang="en-GB" sz="1400" dirty="0"/>
              <a:t>. </a:t>
            </a:r>
            <a:r>
              <a:rPr lang="en-GB" sz="1400" b="1" dirty="0"/>
              <a:t>[online]</a:t>
            </a:r>
            <a:r>
              <a:rPr lang="en-GB" sz="1400" dirty="0"/>
              <a:t> </a:t>
            </a:r>
          </a:p>
          <a:p>
            <a:r>
              <a:rPr lang="en-GB" sz="1400" dirty="0"/>
              <a:t>Available at: </a:t>
            </a:r>
            <a:r>
              <a:rPr lang="en-GB" sz="1400" u="sng" dirty="0">
                <a:hlinkClick r:id="rId4"/>
              </a:rPr>
              <a:t>https://coverlink.com/cyber-liability-insurance/cyber-case-study-change-healthcare-cyberattack/</a:t>
            </a:r>
            <a:r>
              <a:rPr lang="en-GB" sz="1400" dirty="0"/>
              <a:t> </a:t>
            </a:r>
          </a:p>
          <a:p>
            <a:r>
              <a:rPr lang="en-GB" sz="1400" dirty="0"/>
              <a:t>(Last accessed: 10/03/2026).</a:t>
            </a:r>
          </a:p>
          <a:p>
            <a:r>
              <a:rPr lang="en-GB" sz="1400" dirty="0" err="1"/>
              <a:t>Cyberday</a:t>
            </a:r>
            <a:r>
              <a:rPr lang="en-GB" sz="1400" dirty="0"/>
              <a:t> (2024) </a:t>
            </a:r>
            <a:r>
              <a:rPr lang="en-GB" sz="1400" i="1" dirty="0"/>
              <a:t>Best practices and common challenges of ISMS implementation</a:t>
            </a:r>
            <a:r>
              <a:rPr lang="en-GB" sz="1400" dirty="0"/>
              <a:t>. </a:t>
            </a:r>
            <a:r>
              <a:rPr lang="en-GB" sz="1400" b="1" dirty="0"/>
              <a:t>[online]</a:t>
            </a:r>
            <a:r>
              <a:rPr lang="en-GB" sz="1400" dirty="0"/>
              <a:t> </a:t>
            </a:r>
          </a:p>
          <a:p>
            <a:r>
              <a:rPr lang="en-GB" sz="1400" dirty="0"/>
              <a:t>Available at: </a:t>
            </a:r>
            <a:r>
              <a:rPr lang="en-GB" sz="1400" u="sng" dirty="0">
                <a:hlinkClick r:id="rId5"/>
              </a:rPr>
              <a:t>https://www.cyberday.ai/blog/best-practices-and-common-challenges-of-isms-implementation</a:t>
            </a:r>
            <a:r>
              <a:rPr lang="en-GB" sz="1400" dirty="0"/>
              <a:t> </a:t>
            </a:r>
          </a:p>
          <a:p>
            <a:r>
              <a:rPr lang="en-GB" sz="1400" dirty="0"/>
              <a:t>(Last accessed: 10/03/2026).</a:t>
            </a:r>
          </a:p>
          <a:p>
            <a:r>
              <a:rPr lang="en-GB" sz="1400" dirty="0" err="1"/>
              <a:t>DataGuard</a:t>
            </a:r>
            <a:r>
              <a:rPr lang="en-GB" sz="1400" dirty="0"/>
              <a:t> (2024) </a:t>
            </a:r>
            <a:r>
              <a:rPr lang="en-GB" sz="1400" i="1" dirty="0"/>
              <a:t>Benefits of ISO 27001</a:t>
            </a:r>
            <a:r>
              <a:rPr lang="en-GB" sz="1400" dirty="0"/>
              <a:t>. </a:t>
            </a:r>
            <a:r>
              <a:rPr lang="en-GB" sz="1400" b="1" dirty="0"/>
              <a:t>[online]</a:t>
            </a:r>
            <a:r>
              <a:rPr lang="en-GB" sz="1400" dirty="0"/>
              <a:t> </a:t>
            </a:r>
          </a:p>
          <a:p>
            <a:r>
              <a:rPr lang="en-GB" sz="1400" dirty="0"/>
              <a:t>Available at: </a:t>
            </a:r>
            <a:r>
              <a:rPr lang="en-GB" sz="1400" u="sng" dirty="0">
                <a:hlinkClick r:id="rId6"/>
              </a:rPr>
              <a:t>https://www.dataguard.com/iso-27001/benefits/</a:t>
            </a:r>
            <a:r>
              <a:rPr lang="en-GB" sz="1400" dirty="0"/>
              <a:t> </a:t>
            </a:r>
          </a:p>
          <a:p>
            <a:r>
              <a:rPr lang="en-GB" sz="1400" dirty="0"/>
              <a:t>(Last accessed: 10/03/2026).</a:t>
            </a:r>
          </a:p>
          <a:p>
            <a:r>
              <a:rPr lang="en-GB" sz="1400" dirty="0"/>
              <a:t>GOV.UK (2024) </a:t>
            </a:r>
            <a:r>
              <a:rPr lang="en-GB" sz="1400" i="1" dirty="0"/>
              <a:t>Data protection</a:t>
            </a:r>
            <a:r>
              <a:rPr lang="en-GB" sz="1400" dirty="0"/>
              <a:t>. </a:t>
            </a:r>
            <a:r>
              <a:rPr lang="en-GB" sz="1400" b="1" dirty="0"/>
              <a:t>[online]</a:t>
            </a:r>
            <a:r>
              <a:rPr lang="en-GB" sz="1400" dirty="0"/>
              <a:t> </a:t>
            </a:r>
          </a:p>
          <a:p>
            <a:r>
              <a:rPr lang="en-GB" sz="1400" dirty="0"/>
              <a:t>Available at: </a:t>
            </a:r>
            <a:r>
              <a:rPr lang="en-GB" sz="1400" u="sng" dirty="0">
                <a:hlinkClick r:id="rId7"/>
              </a:rPr>
              <a:t>https://www.gov.uk/data-protection</a:t>
            </a:r>
            <a:r>
              <a:rPr lang="en-GB" sz="1400" dirty="0"/>
              <a:t> </a:t>
            </a:r>
          </a:p>
          <a:p>
            <a:r>
              <a:rPr lang="en-GB" sz="1400" dirty="0"/>
              <a:t>(Last accessed: 10/03/2026).</a:t>
            </a:r>
          </a:p>
          <a:p>
            <a:r>
              <a:rPr lang="en-GB" sz="1400" dirty="0"/>
              <a:t>HIPAA Journal (2024) </a:t>
            </a:r>
            <a:r>
              <a:rPr lang="en-GB" sz="1400" i="1" dirty="0"/>
              <a:t>Shields Health Care data breach settlement</a:t>
            </a:r>
            <a:r>
              <a:rPr lang="en-GB" sz="1400" dirty="0"/>
              <a:t>. </a:t>
            </a:r>
            <a:r>
              <a:rPr lang="en-GB" sz="1400" b="1" dirty="0"/>
              <a:t>[online]</a:t>
            </a:r>
            <a:r>
              <a:rPr lang="en-GB" sz="1400" dirty="0"/>
              <a:t> </a:t>
            </a:r>
          </a:p>
          <a:p>
            <a:r>
              <a:rPr lang="en-GB" sz="1400" dirty="0"/>
              <a:t>Available at: </a:t>
            </a:r>
            <a:r>
              <a:rPr lang="en-GB" sz="1400" u="sng" dirty="0">
                <a:hlinkClick r:id="rId8"/>
              </a:rPr>
              <a:t>https://www.hipaajournal.com/shields-health-care-data-breach-settlement/</a:t>
            </a:r>
            <a:r>
              <a:rPr lang="en-GB" sz="1400" dirty="0"/>
              <a:t> </a:t>
            </a:r>
          </a:p>
          <a:p>
            <a:r>
              <a:rPr lang="en-GB" sz="1400" dirty="0"/>
              <a:t>(Last accessed: 10/03/2026).</a:t>
            </a:r>
          </a:p>
          <a:p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673122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C8C2F-D34A-ED77-F638-7CB2EA703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651CF-F3E7-22B6-E1F8-4A86C5BA3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709" y="657969"/>
            <a:ext cx="9099133" cy="1214674"/>
          </a:xfrm>
        </p:spPr>
        <p:txBody>
          <a:bodyPr/>
          <a:lstStyle/>
          <a:p>
            <a:r>
              <a:rPr lang="en-GB" sz="7500"/>
              <a:t>References continued</a:t>
            </a:r>
            <a:br>
              <a:rPr lang="en-GB" dirty="0"/>
            </a:br>
            <a:endParaRPr lang="en-GB" sz="2000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914AB9-52EA-35FA-8DB8-0D75ED0ABD11}"/>
              </a:ext>
            </a:extLst>
          </p:cNvPr>
          <p:cNvSpPr txBox="1"/>
          <p:nvPr/>
        </p:nvSpPr>
        <p:spPr>
          <a:xfrm>
            <a:off x="1129432" y="1152397"/>
            <a:ext cx="10344409" cy="52937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GB" sz="1200" b="1" dirty="0"/>
          </a:p>
          <a:p>
            <a:r>
              <a:rPr lang="en-GB" sz="1200" dirty="0" err="1">
                <a:ea typeface="+mn-lt"/>
                <a:cs typeface="+mn-lt"/>
              </a:rPr>
              <a:t>ISMS.online</a:t>
            </a:r>
            <a:r>
              <a:rPr lang="en-GB" sz="1200" dirty="0">
                <a:ea typeface="+mn-lt"/>
                <a:cs typeface="+mn-lt"/>
              </a:rPr>
              <a:t> (2024) </a:t>
            </a:r>
            <a:r>
              <a:rPr lang="en-GB" sz="1200" i="1" dirty="0">
                <a:ea typeface="+mn-lt"/>
                <a:cs typeface="+mn-lt"/>
              </a:rPr>
              <a:t>ISO 27001 implementation: 4 key challenges and how to overcome them</a:t>
            </a:r>
            <a:r>
              <a:rPr lang="en-GB" sz="1200" dirty="0">
                <a:ea typeface="+mn-lt"/>
                <a:cs typeface="+mn-lt"/>
              </a:rPr>
              <a:t>. </a:t>
            </a:r>
            <a:r>
              <a:rPr lang="en-GB" sz="1200" b="1" dirty="0">
                <a:ea typeface="+mn-lt"/>
                <a:cs typeface="+mn-lt"/>
              </a:rPr>
              <a:t>[online]</a:t>
            </a:r>
            <a:r>
              <a:rPr lang="en-GB" sz="1200" dirty="0">
                <a:ea typeface="+mn-lt"/>
                <a:cs typeface="+mn-lt"/>
              </a:rPr>
              <a:t> </a:t>
            </a:r>
            <a:r>
              <a:rPr lang="en-US" sz="1200" dirty="0">
                <a:latin typeface="Arial"/>
                <a:cs typeface="Arial"/>
              </a:rPr>
              <a:t> </a:t>
            </a:r>
            <a:endParaRPr lang="en-GB" sz="1200"/>
          </a:p>
          <a:p>
            <a:r>
              <a:rPr lang="en-GB" sz="1200">
                <a:ea typeface="+mn-lt"/>
                <a:cs typeface="+mn-lt"/>
              </a:rPr>
              <a:t>Available at: </a:t>
            </a:r>
            <a:r>
              <a:rPr lang="en-GB" sz="1200" dirty="0">
                <a:ea typeface="+mn-lt"/>
                <a:cs typeface="+mn-lt"/>
                <a:hlinkClick r:id="rId2"/>
              </a:rPr>
              <a:t>https://www.isms.online/iso-27001/iso-27001-implementation-4-key-challenges-how-to-overcome-them/</a:t>
            </a:r>
            <a:r>
              <a:rPr lang="en-GB" sz="1200" dirty="0">
                <a:ea typeface="+mn-lt"/>
                <a:cs typeface="+mn-lt"/>
              </a:rPr>
              <a:t> </a:t>
            </a:r>
            <a:r>
              <a:rPr lang="en-US" sz="1200" dirty="0">
                <a:latin typeface="Arial"/>
                <a:cs typeface="Arial"/>
              </a:rPr>
              <a:t> </a:t>
            </a:r>
            <a:endParaRPr lang="en-GB" sz="1200"/>
          </a:p>
          <a:p>
            <a:r>
              <a:rPr lang="en-GB" sz="1200">
                <a:ea typeface="+mn-lt"/>
                <a:cs typeface="+mn-lt"/>
              </a:rPr>
              <a:t>(Last accessed: 10/03/2026).</a:t>
            </a:r>
            <a:r>
              <a:rPr lang="en-US" sz="1200" dirty="0">
                <a:latin typeface="Arial"/>
                <a:cs typeface="Arial"/>
              </a:rPr>
              <a:t> </a:t>
            </a:r>
            <a:endParaRPr lang="en-GB" sz="1200"/>
          </a:p>
          <a:p>
            <a:r>
              <a:rPr lang="en-GB" sz="1200">
                <a:ea typeface="+mn-lt"/>
                <a:cs typeface="+mn-lt"/>
              </a:rPr>
              <a:t>ISO (2022) </a:t>
            </a:r>
            <a:r>
              <a:rPr lang="en-GB" sz="1200" i="1">
                <a:ea typeface="+mn-lt"/>
                <a:cs typeface="+mn-lt"/>
              </a:rPr>
              <a:t>ISO/IEC 27001 Information security management</a:t>
            </a:r>
            <a:r>
              <a:rPr lang="en-GB" sz="1200">
                <a:ea typeface="+mn-lt"/>
                <a:cs typeface="+mn-lt"/>
              </a:rPr>
              <a:t>. </a:t>
            </a:r>
            <a:r>
              <a:rPr lang="en-GB" sz="1200" b="1">
                <a:ea typeface="+mn-lt"/>
                <a:cs typeface="+mn-lt"/>
              </a:rPr>
              <a:t>[online]</a:t>
            </a:r>
            <a:r>
              <a:rPr lang="en-GB" sz="1200" dirty="0">
                <a:ea typeface="+mn-lt"/>
                <a:cs typeface="+mn-lt"/>
              </a:rPr>
              <a:t> </a:t>
            </a:r>
            <a:r>
              <a:rPr lang="en-US" sz="1200" dirty="0">
                <a:latin typeface="Arial"/>
                <a:cs typeface="Arial"/>
              </a:rPr>
              <a:t> </a:t>
            </a:r>
            <a:endParaRPr lang="en-GB" sz="1200"/>
          </a:p>
          <a:p>
            <a:r>
              <a:rPr lang="en-GB" sz="1200">
                <a:ea typeface="+mn-lt"/>
                <a:cs typeface="+mn-lt"/>
              </a:rPr>
              <a:t>Available at: </a:t>
            </a:r>
            <a:r>
              <a:rPr lang="en-GB" sz="1200" dirty="0">
                <a:ea typeface="+mn-lt"/>
                <a:cs typeface="+mn-lt"/>
                <a:hlinkClick r:id="rId3"/>
              </a:rPr>
              <a:t>https://www.iso.org/standard/27001</a:t>
            </a:r>
            <a:r>
              <a:rPr lang="en-GB" sz="1200" dirty="0">
                <a:ea typeface="+mn-lt"/>
                <a:cs typeface="+mn-lt"/>
              </a:rPr>
              <a:t> </a:t>
            </a:r>
            <a:r>
              <a:rPr lang="en-US" sz="1200" dirty="0">
                <a:latin typeface="Arial"/>
                <a:cs typeface="Arial"/>
              </a:rPr>
              <a:t> </a:t>
            </a:r>
            <a:endParaRPr lang="en-GB" sz="1200"/>
          </a:p>
          <a:p>
            <a:r>
              <a:rPr lang="en-GB" sz="1200">
                <a:ea typeface="+mn-lt"/>
                <a:cs typeface="+mn-lt"/>
              </a:rPr>
              <a:t>(Last accessed: 10/03/2026).</a:t>
            </a:r>
            <a:r>
              <a:rPr lang="en-US" sz="1200" dirty="0">
                <a:latin typeface="Arial"/>
                <a:cs typeface="Arial"/>
              </a:rPr>
              <a:t> </a:t>
            </a:r>
            <a:endParaRPr lang="en-GB" sz="1200"/>
          </a:p>
          <a:p>
            <a:r>
              <a:rPr lang="en-GB" sz="1200" dirty="0">
                <a:ea typeface="+mn-lt"/>
                <a:cs typeface="+mn-lt"/>
              </a:rPr>
              <a:t>NAO (2017) </a:t>
            </a:r>
            <a:r>
              <a:rPr lang="en-GB" sz="1200" i="1" dirty="0">
                <a:ea typeface="+mn-lt"/>
                <a:cs typeface="+mn-lt"/>
              </a:rPr>
              <a:t>Investigation: WannaCry cyber attack and the NHS</a:t>
            </a:r>
            <a:r>
              <a:rPr lang="en-GB" sz="1200" dirty="0">
                <a:ea typeface="+mn-lt"/>
                <a:cs typeface="+mn-lt"/>
              </a:rPr>
              <a:t>. </a:t>
            </a:r>
            <a:r>
              <a:rPr lang="en-GB" sz="1200" b="1" dirty="0">
                <a:ea typeface="+mn-lt"/>
                <a:cs typeface="+mn-lt"/>
              </a:rPr>
              <a:t>[online] </a:t>
            </a:r>
            <a:r>
              <a:rPr lang="en-GB" sz="1200" dirty="0">
                <a:latin typeface="Arial"/>
                <a:cs typeface="Arial"/>
              </a:rPr>
              <a:t> </a:t>
            </a:r>
            <a:endParaRPr lang="en-GB" sz="1200"/>
          </a:p>
          <a:p>
            <a:r>
              <a:rPr lang="en-GB" sz="1200">
                <a:ea typeface="+mn-lt"/>
                <a:cs typeface="+mn-lt"/>
              </a:rPr>
              <a:t>Available at: </a:t>
            </a:r>
            <a:r>
              <a:rPr lang="en-GB" sz="1200" dirty="0">
                <a:ea typeface="+mn-lt"/>
                <a:cs typeface="+mn-lt"/>
                <a:hlinkClick r:id="rId4"/>
              </a:rPr>
              <a:t>https://www.nao.org.uk/wp-content/uploads/2017/10/Investigation-WannaCry-cyber-attack-and-the-NHS.pdf</a:t>
            </a:r>
            <a:r>
              <a:rPr lang="en-GB" sz="1200" dirty="0">
                <a:ea typeface="+mn-lt"/>
                <a:cs typeface="+mn-lt"/>
              </a:rPr>
              <a:t> </a:t>
            </a:r>
            <a:r>
              <a:rPr lang="en-US" sz="1200" dirty="0">
                <a:latin typeface="Arial"/>
                <a:cs typeface="Arial"/>
              </a:rPr>
              <a:t> </a:t>
            </a:r>
            <a:endParaRPr lang="en-GB" sz="1200"/>
          </a:p>
          <a:p>
            <a:r>
              <a:rPr lang="en-GB" sz="1200">
                <a:ea typeface="+mn-lt"/>
                <a:cs typeface="+mn-lt"/>
              </a:rPr>
              <a:t>(Last accessed: 10/03/2026).</a:t>
            </a:r>
            <a:r>
              <a:rPr lang="en-US" sz="1200" dirty="0">
                <a:latin typeface="Arial"/>
                <a:cs typeface="Arial"/>
              </a:rPr>
              <a:t> </a:t>
            </a:r>
            <a:endParaRPr lang="en-GB" sz="1200"/>
          </a:p>
          <a:p>
            <a:r>
              <a:rPr lang="en-GB" sz="1200">
                <a:ea typeface="+mn-lt"/>
                <a:cs typeface="+mn-lt"/>
              </a:rPr>
              <a:t>NHS England (2024) </a:t>
            </a:r>
            <a:r>
              <a:rPr lang="en-GB" sz="1200" i="1">
                <a:ea typeface="+mn-lt"/>
                <a:cs typeface="+mn-lt"/>
              </a:rPr>
              <a:t>Security and privacy: NHS federated data platform</a:t>
            </a:r>
            <a:r>
              <a:rPr lang="en-GB" sz="1200">
                <a:ea typeface="+mn-lt"/>
                <a:cs typeface="+mn-lt"/>
              </a:rPr>
              <a:t>. </a:t>
            </a:r>
            <a:r>
              <a:rPr lang="en-GB" sz="1200" b="1">
                <a:ea typeface="+mn-lt"/>
                <a:cs typeface="+mn-lt"/>
              </a:rPr>
              <a:t>[online]</a:t>
            </a:r>
            <a:r>
              <a:rPr lang="en-GB" sz="1200">
                <a:ea typeface="+mn-lt"/>
                <a:cs typeface="+mn-lt"/>
              </a:rPr>
              <a:t> Available at: </a:t>
            </a:r>
            <a:r>
              <a:rPr lang="en-GB" sz="1200" dirty="0">
                <a:ea typeface="+mn-lt"/>
                <a:cs typeface="+mn-lt"/>
                <a:hlinkClick r:id="rId5"/>
              </a:rPr>
              <a:t>https://www.england.nhs.uk/digitaltechnology/nhs-federated-data-platform/security-privacy/</a:t>
            </a:r>
            <a:r>
              <a:rPr lang="en-GB" sz="1200" dirty="0">
                <a:ea typeface="+mn-lt"/>
                <a:cs typeface="+mn-lt"/>
              </a:rPr>
              <a:t> </a:t>
            </a:r>
            <a:r>
              <a:rPr lang="en-US" sz="1200" dirty="0">
                <a:latin typeface="Arial"/>
                <a:cs typeface="Arial"/>
              </a:rPr>
              <a:t> </a:t>
            </a:r>
            <a:endParaRPr lang="en-GB" sz="1200"/>
          </a:p>
          <a:p>
            <a:r>
              <a:rPr lang="en-GB" sz="1200">
                <a:ea typeface="+mn-lt"/>
                <a:cs typeface="+mn-lt"/>
              </a:rPr>
              <a:t>(Last accessed: 10/03/2026).</a:t>
            </a:r>
            <a:r>
              <a:rPr lang="en-US" sz="1200" dirty="0">
                <a:latin typeface="Arial"/>
                <a:cs typeface="Arial"/>
              </a:rPr>
              <a:t> </a:t>
            </a:r>
            <a:endParaRPr lang="en-GB" sz="1200"/>
          </a:p>
          <a:p>
            <a:r>
              <a:rPr lang="en-GB" sz="1200">
                <a:ea typeface="+mn-lt"/>
                <a:cs typeface="+mn-lt"/>
              </a:rPr>
              <a:t>Omni Cybersecurity (2024) </a:t>
            </a:r>
            <a:r>
              <a:rPr lang="en-GB" sz="1200" i="1">
                <a:ea typeface="+mn-lt"/>
                <a:cs typeface="+mn-lt"/>
              </a:rPr>
              <a:t>PCI DSS security standards</a:t>
            </a:r>
            <a:r>
              <a:rPr lang="en-GB" sz="1200">
                <a:ea typeface="+mn-lt"/>
                <a:cs typeface="+mn-lt"/>
              </a:rPr>
              <a:t>. </a:t>
            </a:r>
            <a:r>
              <a:rPr lang="en-GB" sz="1200" b="1">
                <a:ea typeface="+mn-lt"/>
                <a:cs typeface="+mn-lt"/>
              </a:rPr>
              <a:t>[online]</a:t>
            </a:r>
            <a:r>
              <a:rPr lang="en-GB" sz="1200" dirty="0">
                <a:ea typeface="+mn-lt"/>
                <a:cs typeface="+mn-lt"/>
              </a:rPr>
              <a:t> </a:t>
            </a:r>
            <a:r>
              <a:rPr lang="en-US" sz="1200" dirty="0">
                <a:latin typeface="Arial"/>
                <a:cs typeface="Arial"/>
              </a:rPr>
              <a:t> </a:t>
            </a:r>
            <a:endParaRPr lang="en-GB" sz="1200"/>
          </a:p>
          <a:p>
            <a:r>
              <a:rPr lang="en-GB" sz="1200">
                <a:ea typeface="+mn-lt"/>
                <a:cs typeface="+mn-lt"/>
              </a:rPr>
              <a:t>Available at: </a:t>
            </a:r>
            <a:r>
              <a:rPr lang="en-GB" sz="1200" dirty="0">
                <a:ea typeface="+mn-lt"/>
                <a:cs typeface="+mn-lt"/>
                <a:hlinkClick r:id="rId6"/>
              </a:rPr>
              <a:t>https://www.omnicybersecurity.com/cybersecurity-services/pci-dss-get-your-quote/?utm_term=pci%20security%20standards&amp;utm_campaign=PCI&amp;utm_source=adwords&amp;utm_medium=ppc&amp;hsa_acc=4926433472&amp;hsa_cam=22180601270&amp;hsa_grp=189600267756&amp;hsa_ad=786653023430&amp;hsa_src=g&amp;hsa_tgt=kwd-1834754351&amp;hsa_kw=pci%20security%20standards&amp;hsa_mt=e&amp;hsa_net=adwords&amp;hsa_ver=3&amp;gad_source=1&amp;gad_campaignid=22180601270&amp;gbraid=0AAAAACvITjo4r6x9KX-GGY6hCTlB8R2mZ&amp;gclid=Cj0KCQjwgr_NBhDFARIsAHiUWr7N5IM-gfEj7ZufNplL88ztXRpdYzWRTVPa4nLMGjLhJQQk0rY_jGEaAif9EALw_wcB</a:t>
            </a:r>
            <a:r>
              <a:rPr lang="en-GB" sz="1200" dirty="0">
                <a:ea typeface="+mn-lt"/>
                <a:cs typeface="+mn-lt"/>
              </a:rPr>
              <a:t> </a:t>
            </a:r>
            <a:r>
              <a:rPr lang="en-US" sz="1200" dirty="0">
                <a:latin typeface="Arial"/>
                <a:cs typeface="Arial"/>
              </a:rPr>
              <a:t> </a:t>
            </a:r>
            <a:endParaRPr lang="en-GB" sz="1200"/>
          </a:p>
          <a:p>
            <a:r>
              <a:rPr lang="en-GB" sz="1200">
                <a:ea typeface="+mn-lt"/>
                <a:cs typeface="+mn-lt"/>
              </a:rPr>
              <a:t>(Last accessed: 10/03/2026).</a:t>
            </a:r>
            <a:r>
              <a:rPr lang="en-US" sz="1200" dirty="0">
                <a:latin typeface="Arial"/>
                <a:cs typeface="Arial"/>
              </a:rPr>
              <a:t> </a:t>
            </a:r>
            <a:endParaRPr lang="en-GB" sz="1200"/>
          </a:p>
          <a:p>
            <a:r>
              <a:rPr lang="en-GB" sz="1200">
                <a:ea typeface="+mn-lt"/>
                <a:cs typeface="+mn-lt"/>
              </a:rPr>
              <a:t>Rubrik (2025) </a:t>
            </a:r>
            <a:r>
              <a:rPr lang="en-GB" sz="1200" i="1">
                <a:ea typeface="+mn-lt"/>
                <a:cs typeface="+mn-lt"/>
              </a:rPr>
              <a:t>Healthcare cybersecurity challenges and threats</a:t>
            </a:r>
            <a:r>
              <a:rPr lang="en-GB" sz="1200">
                <a:ea typeface="+mn-lt"/>
                <a:cs typeface="+mn-lt"/>
              </a:rPr>
              <a:t>. </a:t>
            </a:r>
            <a:r>
              <a:rPr lang="en-GB" sz="1200" b="1">
                <a:ea typeface="+mn-lt"/>
                <a:cs typeface="+mn-lt"/>
              </a:rPr>
              <a:t>[online] </a:t>
            </a:r>
            <a:r>
              <a:rPr lang="en-GB" sz="1200" dirty="0">
                <a:latin typeface="Arial"/>
                <a:cs typeface="Arial"/>
              </a:rPr>
              <a:t> </a:t>
            </a:r>
            <a:endParaRPr lang="en-GB" sz="1200"/>
          </a:p>
          <a:p>
            <a:r>
              <a:rPr lang="en-GB" sz="1200">
                <a:ea typeface="+mn-lt"/>
                <a:cs typeface="+mn-lt"/>
              </a:rPr>
              <a:t>Available at: </a:t>
            </a:r>
            <a:r>
              <a:rPr lang="en-GB" sz="1200" dirty="0">
                <a:ea typeface="+mn-lt"/>
                <a:cs typeface="+mn-lt"/>
                <a:hlinkClick r:id="rId7"/>
              </a:rPr>
              <a:t>https://www.rubrik.com/insights/healthcare-cybersecurity-challenges-threats-2025</a:t>
            </a:r>
            <a:r>
              <a:rPr lang="en-GB" sz="1200" dirty="0">
                <a:ea typeface="+mn-lt"/>
                <a:cs typeface="+mn-lt"/>
              </a:rPr>
              <a:t> </a:t>
            </a:r>
            <a:r>
              <a:rPr lang="en-US" sz="1200" dirty="0">
                <a:latin typeface="Arial"/>
                <a:cs typeface="Arial"/>
              </a:rPr>
              <a:t> </a:t>
            </a:r>
            <a:endParaRPr lang="en-GB" sz="1200"/>
          </a:p>
          <a:p>
            <a:r>
              <a:rPr lang="en-GB" sz="1200">
                <a:ea typeface="+mn-lt"/>
                <a:cs typeface="+mn-lt"/>
              </a:rPr>
              <a:t>(Last accessed: 10/03/2026).</a:t>
            </a:r>
            <a:r>
              <a:rPr lang="en-US" sz="1200" dirty="0">
                <a:latin typeface="Arial"/>
                <a:cs typeface="Arial"/>
              </a:rPr>
              <a:t> </a:t>
            </a:r>
            <a:endParaRPr lang="en-GB" sz="1200"/>
          </a:p>
          <a:p>
            <a:r>
              <a:rPr lang="en-GB" sz="1200">
                <a:ea typeface="+mn-lt"/>
                <a:cs typeface="+mn-lt"/>
              </a:rPr>
              <a:t>TUV NORD (2024) </a:t>
            </a:r>
            <a:r>
              <a:rPr lang="en-GB" sz="1200" i="1">
                <a:ea typeface="+mn-lt"/>
                <a:cs typeface="+mn-lt"/>
              </a:rPr>
              <a:t>Common challenges in implementing ISO 27001 and how to overcome them</a:t>
            </a:r>
            <a:r>
              <a:rPr lang="en-GB" sz="1200">
                <a:ea typeface="+mn-lt"/>
                <a:cs typeface="+mn-lt"/>
              </a:rPr>
              <a:t>. </a:t>
            </a:r>
            <a:r>
              <a:rPr lang="en-GB" sz="1200" b="1">
                <a:ea typeface="+mn-lt"/>
                <a:cs typeface="+mn-lt"/>
              </a:rPr>
              <a:t>[online]</a:t>
            </a:r>
            <a:r>
              <a:rPr lang="en-GB" sz="1200" dirty="0">
                <a:ea typeface="+mn-lt"/>
                <a:cs typeface="+mn-lt"/>
              </a:rPr>
              <a:t> </a:t>
            </a:r>
            <a:r>
              <a:rPr lang="en-US" sz="1200" dirty="0">
                <a:latin typeface="Arial"/>
                <a:cs typeface="Arial"/>
              </a:rPr>
              <a:t> </a:t>
            </a:r>
            <a:endParaRPr lang="en-GB" sz="1200"/>
          </a:p>
          <a:p>
            <a:r>
              <a:rPr lang="en-GB" sz="1200">
                <a:ea typeface="+mn-lt"/>
                <a:cs typeface="+mn-lt"/>
              </a:rPr>
              <a:t>Available at: </a:t>
            </a:r>
            <a:r>
              <a:rPr lang="en-GB" sz="1200" dirty="0">
                <a:ea typeface="+mn-lt"/>
                <a:cs typeface="+mn-lt"/>
                <a:hlinkClick r:id="rId8"/>
              </a:rPr>
              <a:t>https://www.tuv-nord.com/uk/en/common-challenges-in-implementing-iso-27001-and-how-to-overcome-them/</a:t>
            </a:r>
            <a:r>
              <a:rPr lang="en-GB" sz="1200" dirty="0">
                <a:ea typeface="+mn-lt"/>
                <a:cs typeface="+mn-lt"/>
              </a:rPr>
              <a:t> </a:t>
            </a:r>
            <a:r>
              <a:rPr lang="en-US" sz="1200" dirty="0">
                <a:latin typeface="Arial"/>
                <a:cs typeface="Arial"/>
              </a:rPr>
              <a:t> </a:t>
            </a:r>
            <a:endParaRPr lang="en-GB" sz="1200"/>
          </a:p>
          <a:p>
            <a:r>
              <a:rPr lang="en-GB" sz="1200">
                <a:ea typeface="+mn-lt"/>
                <a:cs typeface="+mn-lt"/>
              </a:rPr>
              <a:t>(Last accessed: 10/03/2026).</a:t>
            </a:r>
            <a:r>
              <a:rPr lang="en-US" sz="1200" dirty="0">
                <a:latin typeface="Arial"/>
                <a:cs typeface="Arial"/>
              </a:rPr>
              <a:t> </a:t>
            </a:r>
            <a:endParaRPr lang="en-GB" sz="1200" dirty="0"/>
          </a:p>
          <a:p>
            <a:endParaRPr lang="en-GB"/>
          </a:p>
          <a:p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2218781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setVTI">
  <a:themeElements>
    <a:clrScheme name="Custom 20">
      <a:dk1>
        <a:srgbClr val="000000"/>
      </a:dk1>
      <a:lt1>
        <a:sysClr val="window" lastClr="FFFFFF"/>
      </a:lt1>
      <a:dk2>
        <a:srgbClr val="2C3948"/>
      </a:dk2>
      <a:lt2>
        <a:srgbClr val="F4F4F4"/>
      </a:lt2>
      <a:accent1>
        <a:srgbClr val="F49D90"/>
      </a:accent1>
      <a:accent2>
        <a:srgbClr val="D6947C"/>
      </a:accent2>
      <a:accent3>
        <a:srgbClr val="BF8484"/>
      </a:accent3>
      <a:accent4>
        <a:srgbClr val="96A9AA"/>
      </a:accent4>
      <a:accent5>
        <a:srgbClr val="DD796C"/>
      </a:accent5>
      <a:accent6>
        <a:srgbClr val="D09145"/>
      </a:accent6>
      <a:hlink>
        <a:srgbClr val="DF686A"/>
      </a:hlink>
      <a:folHlink>
        <a:srgbClr val="F93F1C"/>
      </a:folHlink>
    </a:clrScheme>
    <a:fontScheme name="Dante">
      <a:majorFont>
        <a:latin typeface="Dante"/>
        <a:ea typeface=""/>
        <a:cs typeface=""/>
      </a:majorFont>
      <a:minorFont>
        <a:latin typeface="Dan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setVTI" id="{17A3166B-76FF-4669-8F6D-D4251AE158D8}" vid="{4532814A-B5F8-4CFD-BC69-A007D492DA4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dfb01dc6-817a-45ab-8648-223bdf94a4eb" xsi:nil="true"/>
    <_activity xmlns="dfb01dc6-817a-45ab-8648-223bdf94a4e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BC7FED0F4D504F8B759EA27C8E105B" ma:contentTypeVersion="16" ma:contentTypeDescription="Create a new document." ma:contentTypeScope="" ma:versionID="adeea810082fa00ad0432be1f4f46991">
  <xsd:schema xmlns:xsd="http://www.w3.org/2001/XMLSchema" xmlns:xs="http://www.w3.org/2001/XMLSchema" xmlns:p="http://schemas.microsoft.com/office/2006/metadata/properties" xmlns:ns3="dfb01dc6-817a-45ab-8648-223bdf94a4eb" xmlns:ns4="52598706-196e-4429-9b33-162fd15be063" targetNamespace="http://schemas.microsoft.com/office/2006/metadata/properties" ma:root="true" ma:fieldsID="83c5acb75ec3252b3e8d1d34c8bca164" ns3:_="" ns4:_="">
    <xsd:import namespace="dfb01dc6-817a-45ab-8648-223bdf94a4eb"/>
    <xsd:import namespace="52598706-196e-4429-9b33-162fd15be06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DateTaken" minOccurs="0"/>
                <xsd:element ref="ns3:_activity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01dc6-817a-45ab-8648-223bdf94a4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598706-196e-4429-9b33-162fd15be063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B37DAF-AFAF-4561-A80B-C76198EBD319}">
  <ds:schemaRefs>
    <ds:schemaRef ds:uri="http://schemas.openxmlformats.org/package/2006/metadata/core-properties"/>
    <ds:schemaRef ds:uri="dfb01dc6-817a-45ab-8648-223bdf94a4eb"/>
    <ds:schemaRef ds:uri="52598706-196e-4429-9b33-162fd15be063"/>
    <ds:schemaRef ds:uri="http://schemas.microsoft.com/office/2006/documentManagement/types"/>
    <ds:schemaRef ds:uri="http://www.w3.org/XML/1998/namespace"/>
    <ds:schemaRef ds:uri="http://purl.org/dc/terms/"/>
    <ds:schemaRef ds:uri="http://purl.org/dc/elements/1.1/"/>
    <ds:schemaRef ds:uri="http://schemas.microsoft.com/office/infopath/2007/PartnerControls"/>
    <ds:schemaRef ds:uri="http://purl.org/dc/dcmitype/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5B665E41-66EB-401D-940D-8E7024721B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3A14D5-7EE9-4DF1-B1FE-46604C10E4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b01dc6-817a-45ab-8648-223bdf94a4eb"/>
    <ds:schemaRef ds:uri="52598706-196e-4429-9b33-162fd15be0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{4D201AEC-8D16-4E12-8CE0-AA204F53E1E8}TF6ea1097e-8114-4abb-8578-efc1cea4ec3c79c3debc_win32-15e8df654485</Template>
  <TotalTime>1688</TotalTime>
  <Words>990</Words>
  <Application>Microsoft Office PowerPoint</Application>
  <PresentationFormat>Widescreen</PresentationFormat>
  <Paragraphs>142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Dante</vt:lpstr>
      <vt:lpstr>Dante (Headings)2</vt:lpstr>
      <vt:lpstr>Helvetica Neue Medium</vt:lpstr>
      <vt:lpstr>Wingdings 2</vt:lpstr>
      <vt:lpstr>OffsetVTI</vt:lpstr>
      <vt:lpstr>OneWorld Prosthetics </vt:lpstr>
      <vt:lpstr>Agenda</vt:lpstr>
      <vt:lpstr>Our organization and goals  </vt:lpstr>
      <vt:lpstr>Roles within the organization </vt:lpstr>
      <vt:lpstr>Our company's assets</vt:lpstr>
      <vt:lpstr>Vulnerabilities and Threats (a mini risk assessment)</vt:lpstr>
      <vt:lpstr>What is the potential impact of these risks?</vt:lpstr>
      <vt:lpstr>Case studies and what we can learn from them</vt:lpstr>
      <vt:lpstr>Which isms framework do we recommend?</vt:lpstr>
      <vt:lpstr>Regulations that apply to us</vt:lpstr>
      <vt:lpstr>Key challenges we face with this ISMS proposal</vt:lpstr>
      <vt:lpstr>Solutions to these challenges </vt:lpstr>
      <vt:lpstr>Thank You</vt:lpstr>
      <vt:lpstr>References </vt:lpstr>
      <vt:lpstr>References continued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Avleen Sidhu (5262218)</dc:creator>
  <cp:lastModifiedBy>Joe Coleman (5238859)</cp:lastModifiedBy>
  <cp:revision>78</cp:revision>
  <dcterms:created xsi:type="dcterms:W3CDTF">2026-01-23T14:30:01Z</dcterms:created>
  <dcterms:modified xsi:type="dcterms:W3CDTF">2026-03-26T08:59:37Z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0x01010071BC7FED0F4D504F8B759EA27C8E105B</vt:lpwstr>
  </property>
</Properties>
</file>